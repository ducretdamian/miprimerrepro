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89" r:id="rId9"/>
    <p:sldId id="288" r:id="rId10"/>
    <p:sldId id="263" r:id="rId11"/>
    <p:sldId id="264" r:id="rId12"/>
    <p:sldId id="265" r:id="rId13"/>
    <p:sldId id="291" r:id="rId14"/>
    <p:sldId id="292" r:id="rId15"/>
    <p:sldId id="266" r:id="rId16"/>
    <p:sldId id="290" r:id="rId17"/>
    <p:sldId id="267" r:id="rId18"/>
    <p:sldId id="268" r:id="rId19"/>
    <p:sldId id="269" r:id="rId20"/>
    <p:sldId id="270" r:id="rId21"/>
    <p:sldId id="271" r:id="rId22"/>
    <p:sldId id="272" r:id="rId23"/>
    <p:sldId id="273" r:id="rId24"/>
    <p:sldId id="293" r:id="rId25"/>
    <p:sldId id="299" r:id="rId26"/>
    <p:sldId id="298" r:id="rId27"/>
    <p:sldId id="274" r:id="rId28"/>
    <p:sldId id="275" r:id="rId29"/>
    <p:sldId id="276" r:id="rId30"/>
    <p:sldId id="297" r:id="rId31"/>
    <p:sldId id="294" r:id="rId32"/>
    <p:sldId id="277" r:id="rId33"/>
    <p:sldId id="278" r:id="rId34"/>
    <p:sldId id="279" r:id="rId35"/>
    <p:sldId id="280" r:id="rId36"/>
    <p:sldId id="281" r:id="rId37"/>
    <p:sldId id="296" r:id="rId38"/>
    <p:sldId id="295" r:id="rId3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81" d="100"/>
          <a:sy n="81" d="100"/>
        </p:scale>
        <p:origin x="120"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280" units="cm"/>
          <inkml:channel name="Y" type="integer" max="1024" units="cm"/>
          <inkml:channel name="T" type="integer" max="2.14748E9" units="dev"/>
        </inkml:traceFormat>
        <inkml:channelProperties>
          <inkml:channelProperty channel="X" name="resolution" value="28.31858" units="1/cm"/>
          <inkml:channelProperty channel="Y" name="resolution" value="28.36565" units="1/cm"/>
          <inkml:channelProperty channel="T" name="resolution" value="1" units="1/dev"/>
        </inkml:channelProperties>
      </inkml:inkSource>
      <inkml:timestamp xml:id="ts0" timeString="2021-10-19T13:00:15.686"/>
    </inkml:context>
    <inkml:brush xml:id="br0">
      <inkml:brushProperty name="width" value="0.05292" units="cm"/>
      <inkml:brushProperty name="height" value="0.05292" units="cm"/>
      <inkml:brushProperty name="color" value="#FF0000"/>
    </inkml:brush>
  </inkml:definitions>
  <inkml:trace contextRef="#ctx0" brushRef="#br0">20611 9101 0</inkml:trace>
  <inkml:trace contextRef="#ctx0" brushRef="#br0" timeOffset="774.0441">19129 8678 0</inkml:trace>
</inkml:ink>
</file>

<file path=ppt/ink/ink2.xml><?xml version="1.0" encoding="utf-8"?>
<inkml:ink xmlns:inkml="http://www.w3.org/2003/InkML">
  <inkml:definitions>
    <inkml:context xml:id="ctx0">
      <inkml:inkSource xml:id="inkSrc0">
        <inkml:traceFormat>
          <inkml:channel name="X" type="integer" max="1280" units="cm"/>
          <inkml:channel name="Y" type="integer" max="1024" units="cm"/>
          <inkml:channel name="T" type="integer" max="2.14748E9" units="dev"/>
        </inkml:traceFormat>
        <inkml:channelProperties>
          <inkml:channelProperty channel="X" name="resolution" value="28.31858" units="1/cm"/>
          <inkml:channelProperty channel="Y" name="resolution" value="28.36565" units="1/cm"/>
          <inkml:channelProperty channel="T" name="resolution" value="1" units="1/dev"/>
        </inkml:channelProperties>
      </inkml:inkSource>
      <inkml:timestamp xml:id="ts0" timeString="2021-10-19T13:04:26.245"/>
    </inkml:context>
    <inkml:brush xml:id="br0">
      <inkml:brushProperty name="width" value="0.05292" units="cm"/>
      <inkml:brushProperty name="height" value="0.05292" units="cm"/>
      <inkml:brushProperty name="color" value="#FF0000"/>
    </inkml:brush>
  </inkml:definitions>
  <inkml:trace contextRef="#ctx0" brushRef="#br0">19235 8943 0</inkml:trace>
</inkml:ink>
</file>

<file path=ppt/ink/ink3.xml><?xml version="1.0" encoding="utf-8"?>
<inkml:ink xmlns:inkml="http://www.w3.org/2003/InkML">
  <inkml:definitions>
    <inkml:context xml:id="ctx0">
      <inkml:inkSource xml:id="inkSrc0">
        <inkml:traceFormat>
          <inkml:channel name="X" type="integer" max="1280" units="cm"/>
          <inkml:channel name="Y" type="integer" max="1024" units="cm"/>
          <inkml:channel name="T" type="integer" max="2.14748E9" units="dev"/>
        </inkml:traceFormat>
        <inkml:channelProperties>
          <inkml:channelProperty channel="X" name="resolution" value="28.31858" units="1/cm"/>
          <inkml:channelProperty channel="Y" name="resolution" value="28.36565" units="1/cm"/>
          <inkml:channelProperty channel="T" name="resolution" value="1" units="1/dev"/>
        </inkml:channelProperties>
      </inkml:inkSource>
      <inkml:timestamp xml:id="ts0" timeString="2021-10-19T13:04:26.245"/>
    </inkml:context>
    <inkml:brush xml:id="br0">
      <inkml:brushProperty name="width" value="0.05292" units="cm"/>
      <inkml:brushProperty name="height" value="0.05292" units="cm"/>
      <inkml:brushProperty name="color" value="#FF0000"/>
    </inkml:brush>
  </inkml:definitions>
  <inkml:trace contextRef="#ctx0" brushRef="#br0">19235 8943 0</inkml:trace>
</inkml:ink>
</file>

<file path=ppt/ink/ink4.xml><?xml version="1.0" encoding="utf-8"?>
<inkml:ink xmlns:inkml="http://www.w3.org/2003/InkML">
  <inkml:definitions>
    <inkml:context xml:id="ctx0">
      <inkml:inkSource xml:id="inkSrc0">
        <inkml:traceFormat>
          <inkml:channel name="X" type="integer" max="1280" units="cm"/>
          <inkml:channel name="Y" type="integer" max="1024" units="cm"/>
          <inkml:channel name="T" type="integer" max="2.14748E9" units="dev"/>
        </inkml:traceFormat>
        <inkml:channelProperties>
          <inkml:channelProperty channel="X" name="resolution" value="28.31858" units="1/cm"/>
          <inkml:channelProperty channel="Y" name="resolution" value="28.36565" units="1/cm"/>
          <inkml:channelProperty channel="T" name="resolution" value="1" units="1/dev"/>
        </inkml:channelProperties>
      </inkml:inkSource>
      <inkml:timestamp xml:id="ts0" timeString="2021-10-20T12:50:37.087"/>
    </inkml:context>
    <inkml:brush xml:id="br0">
      <inkml:brushProperty name="width" value="0.05292" units="cm"/>
      <inkml:brushProperty name="height" value="0.05292" units="cm"/>
      <inkml:brushProperty name="color" value="#FF0000"/>
    </inkml:brush>
  </inkml:definitions>
  <inkml:trace contextRef="#ctx0" brushRef="#br0">26300 6852 0</inkml:trace>
</inkml:ink>
</file>

<file path=ppt/ink/ink5.xml><?xml version="1.0" encoding="utf-8"?>
<inkml:ink xmlns:inkml="http://www.w3.org/2003/InkML">
  <inkml:definitions>
    <inkml:context xml:id="ctx0">
      <inkml:inkSource xml:id="inkSrc0">
        <inkml:traceFormat>
          <inkml:channel name="X" type="integer" max="1280" units="cm"/>
          <inkml:channel name="Y" type="integer" max="1024" units="cm"/>
          <inkml:channel name="T" type="integer" max="2.14748E9" units="dev"/>
        </inkml:traceFormat>
        <inkml:channelProperties>
          <inkml:channelProperty channel="X" name="resolution" value="28.31858" units="1/cm"/>
          <inkml:channelProperty channel="Y" name="resolution" value="28.36565" units="1/cm"/>
          <inkml:channelProperty channel="T" name="resolution" value="1" units="1/dev"/>
        </inkml:channelProperties>
      </inkml:inkSource>
      <inkml:timestamp xml:id="ts0" timeString="2021-10-20T12:58:57.573"/>
    </inkml:context>
    <inkml:brush xml:id="br0">
      <inkml:brushProperty name="width" value="0.05292" units="cm"/>
      <inkml:brushProperty name="height" value="0.05292" units="cm"/>
      <inkml:brushProperty name="color" value="#FF0000"/>
    </inkml:brush>
  </inkml:definitions>
  <inkml:trace contextRef="#ctx0" brushRef="#br0">24448 9604 0,'-27'0'125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85096810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228329843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10211426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5940342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61A3BEE-0A71-4B7A-9731-37B771643EED}" type="datetimeFigureOut">
              <a:rPr lang="es-AR" smtClean="0"/>
              <a:t>26/10/2022</a:t>
            </a:fld>
            <a:endParaRPr lang="es-AR"/>
          </a:p>
        </p:txBody>
      </p:sp>
      <p:sp>
        <p:nvSpPr>
          <p:cNvPr id="8" name="Footer Placeholder 7"/>
          <p:cNvSpPr>
            <a:spLocks noGrp="1"/>
          </p:cNvSpPr>
          <p:nvPr>
            <p:ph type="ftr" sz="quarter" idx="11"/>
          </p:nvPr>
        </p:nvSpPr>
        <p:spPr/>
        <p:txBody>
          <a:bodyPr/>
          <a:lstStyle/>
          <a:p>
            <a:endParaRPr lang="es-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93833918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561A3BEE-0A71-4B7A-9731-37B771643EED}" type="datetimeFigureOut">
              <a:rPr lang="es-AR" smtClean="0"/>
              <a:t>26/10/2022</a:t>
            </a:fld>
            <a:endParaRPr lang="es-AR"/>
          </a:p>
        </p:txBody>
      </p:sp>
      <p:sp>
        <p:nvSpPr>
          <p:cNvPr id="4" name="Footer Placeholder 3"/>
          <p:cNvSpPr>
            <a:spLocks noGrp="1"/>
          </p:cNvSpPr>
          <p:nvPr>
            <p:ph type="ftr" sz="quarter" idx="11"/>
          </p:nvPr>
        </p:nvSpPr>
        <p:spPr/>
        <p:txBody>
          <a:bodyPr/>
          <a:lstStyle/>
          <a:p>
            <a:endParaRPr lang="es-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384626538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A3BEE-0A71-4B7A-9731-37B771643EED}" type="datetimeFigureOut">
              <a:rPr lang="es-AR" smtClean="0"/>
              <a:t>26/10/2022</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14801070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108565488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9190077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200462374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D176CC-38FC-4D21-B9DB-3E26F82F641E}" type="slidenum">
              <a:rPr lang="es-AR" smtClean="0"/>
              <a:t>‹Nº›</a:t>
            </a:fld>
            <a:endParaRPr lang="es-A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729984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52942875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D176CC-38FC-4D21-B9DB-3E26F82F641E}" type="slidenum">
              <a:rPr lang="es-AR" smtClean="0"/>
              <a:t>‹Nº›</a:t>
            </a:fld>
            <a:endParaRPr lang="es-A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850333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561A3BEE-0A71-4B7A-9731-37B771643EED}" type="datetimeFigureOut">
              <a:rPr lang="es-AR" smtClean="0"/>
              <a:t>26/10/2022</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381083315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352239014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61A3BEE-0A71-4B7A-9731-37B771643EED}" type="datetimeFigureOut">
              <a:rPr lang="es-AR" smtClean="0"/>
              <a:t>26/10/2022</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D176CC-38FC-4D21-B9DB-3E26F82F641E}" type="slidenum">
              <a:rPr lang="es-AR" smtClean="0"/>
              <a:t>‹Nº›</a:t>
            </a:fld>
            <a:endParaRPr lang="es-AR"/>
          </a:p>
        </p:txBody>
      </p:sp>
    </p:spTree>
    <p:extLst>
      <p:ext uri="{BB962C8B-B14F-4D97-AF65-F5344CB8AC3E}">
        <p14:creationId xmlns:p14="http://schemas.microsoft.com/office/powerpoint/2010/main" val="20498340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2">
                <a:tint val="90000"/>
                <a:satMod val="92000"/>
                <a:lumMod val="1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61A3BEE-0A71-4B7A-9731-37B771643EED}" type="datetimeFigureOut">
              <a:rPr lang="es-AR" smtClean="0"/>
              <a:t>26/10/2022</a:t>
            </a:fld>
            <a:endParaRPr lang="es-A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1D176CC-38FC-4D21-B9DB-3E26F82F641E}" type="slidenum">
              <a:rPr lang="es-AR" smtClean="0"/>
              <a:t>‹Nº›</a:t>
            </a:fld>
            <a:endParaRPr lang="es-AR"/>
          </a:p>
        </p:txBody>
      </p:sp>
    </p:spTree>
    <p:extLst>
      <p:ext uri="{BB962C8B-B14F-4D97-AF65-F5344CB8AC3E}">
        <p14:creationId xmlns:p14="http://schemas.microsoft.com/office/powerpoint/2010/main" val="285573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0.emf"/><Relationship Id="rId5" Type="http://schemas.openxmlformats.org/officeDocument/2006/relationships/customXml" Target="../ink/ink1.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emf"/></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2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6.emf"/><Relationship Id="rId4" Type="http://schemas.openxmlformats.org/officeDocument/2006/relationships/customXml" Target="../ink/ink4.xml"/></Relationships>
</file>

<file path=ppt/slides/_rels/slide31.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gif"/><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2" y="242888"/>
            <a:ext cx="8915399" cy="991193"/>
          </a:xfrm>
        </p:spPr>
        <p:txBody>
          <a:bodyPr/>
          <a:lstStyle/>
          <a:p>
            <a:r>
              <a:rPr lang="es-ES" smtClean="0"/>
              <a:t>11- Termodinámica </a:t>
            </a:r>
            <a:r>
              <a:rPr lang="es-ES" sz="1200" dirty="0" smtClean="0"/>
              <a:t>(560)</a:t>
            </a:r>
            <a:endParaRPr lang="es-AR" dirty="0"/>
          </a:p>
        </p:txBody>
      </p:sp>
      <p:sp>
        <p:nvSpPr>
          <p:cNvPr id="3" name="Subtítulo 2"/>
          <p:cNvSpPr>
            <a:spLocks noGrp="1"/>
          </p:cNvSpPr>
          <p:nvPr>
            <p:ph type="subTitle" idx="1"/>
          </p:nvPr>
        </p:nvSpPr>
        <p:spPr>
          <a:xfrm>
            <a:off x="2589212" y="1505541"/>
            <a:ext cx="8915399" cy="5095283"/>
          </a:xfrm>
        </p:spPr>
        <p:txBody>
          <a:bodyPr>
            <a:noAutofit/>
          </a:bodyPr>
          <a:lstStyle/>
          <a:p>
            <a:pPr>
              <a:spcBef>
                <a:spcPts val="0"/>
              </a:spcBef>
            </a:pPr>
            <a:r>
              <a:rPr lang="es-ES" sz="2000" dirty="0"/>
              <a:t>Termodinámica</a:t>
            </a:r>
            <a:r>
              <a:rPr lang="es-ES" sz="2000" dirty="0" smtClean="0"/>
              <a:t>.</a:t>
            </a:r>
          </a:p>
          <a:p>
            <a:pPr>
              <a:spcBef>
                <a:spcPts val="0"/>
              </a:spcBef>
            </a:pPr>
            <a:r>
              <a:rPr lang="es-ES" sz="2000" dirty="0" smtClean="0"/>
              <a:t>Sistemas </a:t>
            </a:r>
            <a:r>
              <a:rPr lang="es-ES" sz="2000" dirty="0"/>
              <a:t>Termodinámicos</a:t>
            </a:r>
            <a:r>
              <a:rPr lang="es-ES" sz="2000" dirty="0" smtClean="0"/>
              <a:t>.</a:t>
            </a:r>
          </a:p>
          <a:p>
            <a:pPr>
              <a:spcBef>
                <a:spcPts val="0"/>
              </a:spcBef>
            </a:pPr>
            <a:r>
              <a:rPr lang="es-ES" sz="2000" dirty="0" smtClean="0"/>
              <a:t>Propiedades</a:t>
            </a:r>
            <a:r>
              <a:rPr lang="es-ES" sz="2000" dirty="0"/>
              <a:t>. </a:t>
            </a:r>
            <a:endParaRPr lang="es-ES" sz="2000" dirty="0" smtClean="0"/>
          </a:p>
          <a:p>
            <a:pPr>
              <a:spcBef>
                <a:spcPts val="0"/>
              </a:spcBef>
            </a:pPr>
            <a:r>
              <a:rPr lang="es-ES" sz="2000" dirty="0" smtClean="0"/>
              <a:t>Equilibrio </a:t>
            </a:r>
            <a:r>
              <a:rPr lang="es-ES" sz="2000" dirty="0"/>
              <a:t>térmico</a:t>
            </a:r>
            <a:r>
              <a:rPr lang="es-ES" sz="2000" dirty="0" smtClean="0"/>
              <a:t>.</a:t>
            </a:r>
          </a:p>
          <a:p>
            <a:pPr>
              <a:spcBef>
                <a:spcPts val="0"/>
              </a:spcBef>
            </a:pPr>
            <a:r>
              <a:rPr lang="es-ES" sz="2000" dirty="0" smtClean="0"/>
              <a:t>Principio </a:t>
            </a:r>
            <a:r>
              <a:rPr lang="es-ES" sz="2000" dirty="0"/>
              <a:t>cero. </a:t>
            </a:r>
            <a:endParaRPr lang="es-ES" sz="2000" dirty="0" smtClean="0"/>
          </a:p>
          <a:p>
            <a:pPr>
              <a:spcBef>
                <a:spcPts val="0"/>
              </a:spcBef>
            </a:pPr>
            <a:r>
              <a:rPr lang="es-ES" sz="2000" dirty="0" smtClean="0"/>
              <a:t>Definición </a:t>
            </a:r>
            <a:r>
              <a:rPr lang="es-ES" sz="2000" dirty="0"/>
              <a:t>de temperatura. </a:t>
            </a:r>
            <a:endParaRPr lang="es-ES" sz="2000" dirty="0" smtClean="0"/>
          </a:p>
          <a:p>
            <a:pPr>
              <a:spcBef>
                <a:spcPts val="0"/>
              </a:spcBef>
            </a:pPr>
            <a:r>
              <a:rPr lang="es-ES" sz="2000" dirty="0" smtClean="0"/>
              <a:t>Medida </a:t>
            </a:r>
            <a:r>
              <a:rPr lang="es-ES" sz="2000" dirty="0"/>
              <a:t>de la temperatura. </a:t>
            </a:r>
            <a:endParaRPr lang="es-ES" sz="2000" dirty="0" smtClean="0"/>
          </a:p>
          <a:p>
            <a:pPr>
              <a:spcBef>
                <a:spcPts val="0"/>
              </a:spcBef>
            </a:pPr>
            <a:r>
              <a:rPr lang="es-ES" sz="2000" dirty="0" smtClean="0"/>
              <a:t>Termómetro</a:t>
            </a:r>
            <a:r>
              <a:rPr lang="es-ES" sz="2000" dirty="0"/>
              <a:t>. </a:t>
            </a:r>
            <a:endParaRPr lang="es-ES" sz="2000" dirty="0" smtClean="0"/>
          </a:p>
          <a:p>
            <a:pPr>
              <a:spcBef>
                <a:spcPts val="0"/>
              </a:spcBef>
            </a:pPr>
            <a:r>
              <a:rPr lang="es-ES" sz="2000" dirty="0" smtClean="0"/>
              <a:t>Escalas </a:t>
            </a:r>
            <a:r>
              <a:rPr lang="es-ES" sz="2000" dirty="0"/>
              <a:t>de temperatura. </a:t>
            </a:r>
            <a:endParaRPr lang="es-ES" sz="2000" dirty="0" smtClean="0"/>
          </a:p>
          <a:p>
            <a:pPr>
              <a:spcBef>
                <a:spcPts val="0"/>
              </a:spcBef>
            </a:pPr>
            <a:r>
              <a:rPr lang="es-ES" sz="2000" dirty="0" smtClean="0"/>
              <a:t>Escala </a:t>
            </a:r>
            <a:r>
              <a:rPr lang="es-ES" sz="2000" dirty="0"/>
              <a:t>práctica Internacional</a:t>
            </a:r>
            <a:r>
              <a:rPr lang="es-ES" sz="2000" dirty="0" smtClean="0"/>
              <a:t>.</a:t>
            </a:r>
          </a:p>
          <a:p>
            <a:pPr>
              <a:spcBef>
                <a:spcPts val="0"/>
              </a:spcBef>
            </a:pPr>
            <a:r>
              <a:rPr lang="es-ES" sz="2000" dirty="0" smtClean="0"/>
              <a:t>Dilatación </a:t>
            </a:r>
            <a:r>
              <a:rPr lang="es-ES" sz="2000" dirty="0"/>
              <a:t>térmica. </a:t>
            </a:r>
            <a:endParaRPr lang="es-ES" sz="2000" dirty="0" smtClean="0"/>
          </a:p>
          <a:p>
            <a:pPr>
              <a:spcBef>
                <a:spcPts val="0"/>
              </a:spcBef>
            </a:pPr>
            <a:r>
              <a:rPr lang="es-ES" sz="2000" dirty="0" smtClean="0"/>
              <a:t>Concepto </a:t>
            </a:r>
            <a:r>
              <a:rPr lang="es-ES" sz="2000" dirty="0"/>
              <a:t>de calor. </a:t>
            </a:r>
            <a:endParaRPr lang="es-ES" sz="2000" dirty="0" smtClean="0"/>
          </a:p>
          <a:p>
            <a:pPr>
              <a:spcBef>
                <a:spcPts val="0"/>
              </a:spcBef>
            </a:pPr>
            <a:r>
              <a:rPr lang="es-ES" sz="2000" dirty="0" smtClean="0"/>
              <a:t>Calorimetría</a:t>
            </a:r>
            <a:r>
              <a:rPr lang="es-ES" sz="2000" dirty="0"/>
              <a:t>. </a:t>
            </a:r>
            <a:endParaRPr lang="es-ES" sz="2000" dirty="0" smtClean="0"/>
          </a:p>
          <a:p>
            <a:pPr>
              <a:spcBef>
                <a:spcPts val="0"/>
              </a:spcBef>
            </a:pPr>
            <a:r>
              <a:rPr lang="es-ES" sz="2000" dirty="0" smtClean="0"/>
              <a:t>Capacidades </a:t>
            </a:r>
            <a:r>
              <a:rPr lang="es-ES" sz="2000" dirty="0"/>
              <a:t>caloríficas. </a:t>
            </a:r>
            <a:endParaRPr lang="es-ES" sz="2000" dirty="0" smtClean="0"/>
          </a:p>
          <a:p>
            <a:pPr>
              <a:spcBef>
                <a:spcPts val="0"/>
              </a:spcBef>
            </a:pPr>
            <a:r>
              <a:rPr lang="es-ES" sz="2000" dirty="0" smtClean="0"/>
              <a:t>Calores </a:t>
            </a:r>
            <a:r>
              <a:rPr lang="es-ES" sz="2000" dirty="0"/>
              <a:t>específicos</a:t>
            </a:r>
            <a:r>
              <a:rPr lang="es-ES" sz="2000" dirty="0" smtClean="0"/>
              <a:t>.</a:t>
            </a:r>
          </a:p>
          <a:p>
            <a:pPr>
              <a:spcBef>
                <a:spcPts val="0"/>
              </a:spcBef>
            </a:pPr>
            <a:r>
              <a:rPr lang="es-ES" sz="2000" dirty="0" smtClean="0"/>
              <a:t>Formas </a:t>
            </a:r>
            <a:r>
              <a:rPr lang="es-ES" sz="2000" dirty="0"/>
              <a:t>de transmisión del calor.</a:t>
            </a:r>
            <a:endParaRPr lang="es-AR" sz="2000" dirty="0"/>
          </a:p>
          <a:p>
            <a:endParaRPr lang="es-AR" sz="2000" dirty="0"/>
          </a:p>
        </p:txBody>
      </p:sp>
    </p:spTree>
    <p:extLst>
      <p:ext uri="{BB962C8B-B14F-4D97-AF65-F5344CB8AC3E}">
        <p14:creationId xmlns:p14="http://schemas.microsoft.com/office/powerpoint/2010/main" val="425152273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2" y="500064"/>
            <a:ext cx="8915399" cy="742950"/>
          </a:xfrm>
        </p:spPr>
        <p:txBody>
          <a:bodyPr>
            <a:normAutofit fontScale="90000"/>
          </a:bodyPr>
          <a:lstStyle/>
          <a:p>
            <a:r>
              <a:rPr lang="es-ES" dirty="0" smtClean="0"/>
              <a:t>Introducción</a:t>
            </a:r>
            <a:endParaRPr lang="es-AR" dirty="0"/>
          </a:p>
        </p:txBody>
      </p:sp>
      <p:sp>
        <p:nvSpPr>
          <p:cNvPr id="3" name="Subtítulo 2"/>
          <p:cNvSpPr>
            <a:spLocks noGrp="1"/>
          </p:cNvSpPr>
          <p:nvPr>
            <p:ph type="subTitle" idx="1"/>
          </p:nvPr>
        </p:nvSpPr>
        <p:spPr>
          <a:xfrm>
            <a:off x="2589212" y="1634129"/>
            <a:ext cx="8915399" cy="4409484"/>
          </a:xfrm>
        </p:spPr>
        <p:txBody>
          <a:bodyPr>
            <a:normAutofit/>
          </a:bodyPr>
          <a:lstStyle/>
          <a:p>
            <a:pPr marL="285750" indent="-28575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 </a:t>
            </a:r>
            <a:r>
              <a:rPr lang="es-AR" sz="2000" dirty="0" smtClean="0">
                <a:solidFill>
                  <a:schemeClr val="tx1"/>
                </a:solidFill>
                <a:latin typeface="Arial" panose="020B0604020202020204" pitchFamily="34" charset="0"/>
                <a:cs typeface="Arial" panose="020B0604020202020204" pitchFamily="34" charset="0"/>
              </a:rPr>
              <a:t>“… descripción </a:t>
            </a:r>
            <a:r>
              <a:rPr lang="es-AR" sz="2000" dirty="0">
                <a:solidFill>
                  <a:schemeClr val="tx1"/>
                </a:solidFill>
                <a:latin typeface="Arial" panose="020B0604020202020204" pitchFamily="34" charset="0"/>
                <a:cs typeface="Arial" panose="020B0604020202020204" pitchFamily="34" charset="0"/>
              </a:rPr>
              <a:t>cuantitativa de los fenómenos térmicos y definiciones precisas de términos tan importantes como temperatura, calor  y energía </a:t>
            </a:r>
            <a:r>
              <a:rPr lang="es-AR" sz="2000" dirty="0" smtClean="0">
                <a:solidFill>
                  <a:schemeClr val="tx1"/>
                </a:solidFill>
                <a:latin typeface="Arial" panose="020B0604020202020204" pitchFamily="34" charset="0"/>
                <a:cs typeface="Arial" panose="020B0604020202020204" pitchFamily="34" charset="0"/>
              </a:rPr>
              <a:t>interna…”</a:t>
            </a:r>
          </a:p>
          <a:p>
            <a:pPr marL="285750" indent="-28575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“…un </a:t>
            </a:r>
            <a:r>
              <a:rPr lang="es-AR" sz="2000" dirty="0">
                <a:solidFill>
                  <a:schemeClr val="tx1"/>
                </a:solidFill>
                <a:latin typeface="Arial" panose="020B0604020202020204" pitchFamily="34" charset="0"/>
                <a:cs typeface="Arial" panose="020B0604020202020204" pitchFamily="34" charset="0"/>
              </a:rPr>
              <a:t>estudio de los gases ideales en la escala </a:t>
            </a:r>
            <a:r>
              <a:rPr lang="es-AR" sz="2000" dirty="0" smtClean="0">
                <a:solidFill>
                  <a:schemeClr val="tx1"/>
                </a:solidFill>
                <a:latin typeface="Arial" panose="020B0604020202020204" pitchFamily="34" charset="0"/>
                <a:cs typeface="Arial" panose="020B0604020202020204" pitchFamily="34" charset="0"/>
              </a:rPr>
              <a:t>macroscópica…”</a:t>
            </a:r>
          </a:p>
          <a:p>
            <a:pPr marL="285750" indent="-28575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las correspondencias entre cantidades tales como presión, volumen y temperatura de un </a:t>
            </a:r>
            <a:r>
              <a:rPr lang="es-AR" sz="2000" dirty="0" smtClean="0">
                <a:solidFill>
                  <a:schemeClr val="tx1"/>
                </a:solidFill>
                <a:latin typeface="Arial" panose="020B0604020202020204" pitchFamily="34" charset="0"/>
                <a:cs typeface="Arial" panose="020B0604020202020204" pitchFamily="34" charset="0"/>
              </a:rPr>
              <a:t>gas…”</a:t>
            </a:r>
            <a:endParaRPr lang="es-A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795728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65663" y="214313"/>
            <a:ext cx="10138950" cy="1328738"/>
          </a:xfrm>
        </p:spPr>
        <p:txBody>
          <a:bodyPr>
            <a:normAutofit/>
          </a:bodyPr>
          <a:lstStyle/>
          <a:p>
            <a:r>
              <a:rPr lang="es-AR" sz="4000" dirty="0" smtClean="0"/>
              <a:t>Temperatura </a:t>
            </a:r>
            <a:r>
              <a:rPr lang="es-AR" sz="4000" dirty="0"/>
              <a:t>y ley cero  de la termodinámica </a:t>
            </a:r>
          </a:p>
        </p:txBody>
      </p:sp>
      <p:sp>
        <p:nvSpPr>
          <p:cNvPr id="3" name="Subtítulo 2"/>
          <p:cNvSpPr>
            <a:spLocks noGrp="1"/>
          </p:cNvSpPr>
          <p:nvPr>
            <p:ph type="subTitle" idx="1"/>
          </p:nvPr>
        </p:nvSpPr>
        <p:spPr>
          <a:xfrm>
            <a:off x="2589213" y="1762716"/>
            <a:ext cx="8915399" cy="2223497"/>
          </a:xfrm>
        </p:spPr>
        <p:txBody>
          <a:bodyPr>
            <a:noAutofit/>
          </a:bodyPr>
          <a:lstStyle/>
          <a:p>
            <a:r>
              <a:rPr lang="es-ES" sz="2000" b="1" dirty="0" smtClean="0">
                <a:solidFill>
                  <a:schemeClr val="tx1"/>
                </a:solidFill>
                <a:latin typeface="Arial" panose="020B0604020202020204" pitchFamily="34" charset="0"/>
                <a:cs typeface="Arial" panose="020B0604020202020204" pitchFamily="34" charset="0"/>
              </a:rPr>
              <a:t>Ley Cero de la termodinámica</a:t>
            </a:r>
          </a:p>
          <a:p>
            <a:r>
              <a:rPr lang="es-AR" sz="2000" dirty="0" smtClean="0">
                <a:solidFill>
                  <a:schemeClr val="tx1"/>
                </a:solidFill>
                <a:latin typeface="Arial" panose="020B0604020202020204" pitchFamily="34" charset="0"/>
                <a:cs typeface="Arial" panose="020B0604020202020204" pitchFamily="34" charset="0"/>
              </a:rPr>
              <a:t>“…Si </a:t>
            </a:r>
            <a:r>
              <a:rPr lang="es-AR" sz="2000" dirty="0">
                <a:solidFill>
                  <a:schemeClr val="tx1"/>
                </a:solidFill>
                <a:latin typeface="Arial" panose="020B0604020202020204" pitchFamily="34" charset="0"/>
                <a:cs typeface="Arial" panose="020B0604020202020204" pitchFamily="34" charset="0"/>
              </a:rPr>
              <a:t>los objetos A y B están por separado en equilibrio térmico con un tercer objeto C, en tal caso A y B están en equilibrio térmico entre </a:t>
            </a:r>
            <a:r>
              <a:rPr lang="es-AR" sz="2000" dirty="0" smtClean="0">
                <a:solidFill>
                  <a:schemeClr val="tx1"/>
                </a:solidFill>
                <a:latin typeface="Arial" panose="020B0604020202020204" pitchFamily="34" charset="0"/>
                <a:cs typeface="Arial" panose="020B0604020202020204" pitchFamily="34" charset="0"/>
              </a:rPr>
              <a:t>sí…”</a:t>
            </a:r>
          </a:p>
          <a:p>
            <a:endParaRPr lang="es-ES" sz="2000" dirty="0">
              <a:solidFill>
                <a:schemeClr val="tx1"/>
              </a:solidFill>
              <a:latin typeface="Arial" panose="020B0604020202020204" pitchFamily="34" charset="0"/>
              <a:cs typeface="Arial" panose="020B0604020202020204" pitchFamily="34" charset="0"/>
            </a:endParaRPr>
          </a:p>
          <a:p>
            <a:r>
              <a:rPr lang="es-ES" sz="2000" dirty="0" smtClean="0">
                <a:solidFill>
                  <a:schemeClr val="tx1"/>
                </a:solidFill>
                <a:latin typeface="Arial" panose="020B0604020202020204" pitchFamily="34" charset="0"/>
                <a:cs typeface="Arial" panose="020B0604020202020204" pitchFamily="34" charset="0"/>
              </a:rPr>
              <a:t>“…Si dos objetos están en equilibrio térmico con un tercero, entonces están en equilibrio térmico entre sí…”</a:t>
            </a:r>
            <a:endParaRPr lang="es-AR" sz="2000" dirty="0">
              <a:solidFill>
                <a:schemeClr val="tx1"/>
              </a:solidFill>
              <a:latin typeface="Arial" panose="020B0604020202020204" pitchFamily="34" charset="0"/>
              <a:cs typeface="Arial" panose="020B0604020202020204" pitchFamily="34" charset="0"/>
            </a:endParaRPr>
          </a:p>
        </p:txBody>
      </p:sp>
      <p:grpSp>
        <p:nvGrpSpPr>
          <p:cNvPr id="17" name="Grupo 16"/>
          <p:cNvGrpSpPr/>
          <p:nvPr/>
        </p:nvGrpSpPr>
        <p:grpSpPr>
          <a:xfrm>
            <a:off x="5749923" y="4257787"/>
            <a:ext cx="1077120" cy="771525"/>
            <a:chOff x="5746749" y="4129117"/>
            <a:chExt cx="1077120" cy="771525"/>
          </a:xfrm>
        </p:grpSpPr>
        <p:sp>
          <p:nvSpPr>
            <p:cNvPr id="6" name="Rectángulo 5"/>
            <p:cNvSpPr/>
            <p:nvPr/>
          </p:nvSpPr>
          <p:spPr>
            <a:xfrm>
              <a:off x="5746749" y="4129117"/>
              <a:ext cx="882651" cy="771525"/>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CuadroTexto 6"/>
            <p:cNvSpPr txBox="1"/>
            <p:nvPr/>
          </p:nvSpPr>
          <p:spPr>
            <a:xfrm>
              <a:off x="5966619" y="4279119"/>
              <a:ext cx="857250" cy="400110"/>
            </a:xfrm>
            <a:prstGeom prst="rect">
              <a:avLst/>
            </a:prstGeom>
            <a:noFill/>
          </p:spPr>
          <p:txBody>
            <a:bodyPr wrap="square" rtlCol="0">
              <a:spAutoFit/>
            </a:bodyPr>
            <a:lstStyle/>
            <a:p>
              <a:r>
                <a:rPr lang="es-ES" sz="2000" b="1" dirty="0">
                  <a:latin typeface="Arial" panose="020B0604020202020204" pitchFamily="34" charset="0"/>
                  <a:cs typeface="Arial" panose="020B0604020202020204" pitchFamily="34" charset="0"/>
                </a:rPr>
                <a:t>A</a:t>
              </a:r>
              <a:endParaRPr lang="es-AR" sz="2000" b="1" dirty="0">
                <a:latin typeface="Arial" panose="020B0604020202020204" pitchFamily="34" charset="0"/>
                <a:cs typeface="Arial" panose="020B0604020202020204" pitchFamily="34" charset="0"/>
              </a:endParaRPr>
            </a:p>
          </p:txBody>
        </p:sp>
      </p:grpSp>
      <p:grpSp>
        <p:nvGrpSpPr>
          <p:cNvPr id="18" name="Grupo 17"/>
          <p:cNvGrpSpPr/>
          <p:nvPr/>
        </p:nvGrpSpPr>
        <p:grpSpPr>
          <a:xfrm>
            <a:off x="7275512" y="4257759"/>
            <a:ext cx="1285875" cy="771525"/>
            <a:chOff x="7272338" y="4129117"/>
            <a:chExt cx="1285875" cy="771525"/>
          </a:xfrm>
        </p:grpSpPr>
        <p:sp>
          <p:nvSpPr>
            <p:cNvPr id="8" name="Rectángulo 7"/>
            <p:cNvSpPr/>
            <p:nvPr/>
          </p:nvSpPr>
          <p:spPr>
            <a:xfrm>
              <a:off x="7272338" y="4129117"/>
              <a:ext cx="1074736" cy="771525"/>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p:cNvSpPr txBox="1"/>
            <p:nvPr/>
          </p:nvSpPr>
          <p:spPr>
            <a:xfrm>
              <a:off x="7700963" y="4314824"/>
              <a:ext cx="857250" cy="400110"/>
            </a:xfrm>
            <a:prstGeom prst="rect">
              <a:avLst/>
            </a:prstGeom>
            <a:noFill/>
          </p:spPr>
          <p:txBody>
            <a:bodyPr wrap="square" rtlCol="0">
              <a:spAutoFit/>
            </a:bodyPr>
            <a:lstStyle/>
            <a:p>
              <a:r>
                <a:rPr lang="es-ES" sz="2000" b="1" dirty="0">
                  <a:latin typeface="Arial" panose="020B0604020202020204" pitchFamily="34" charset="0"/>
                  <a:cs typeface="Arial" panose="020B0604020202020204" pitchFamily="34" charset="0"/>
                </a:rPr>
                <a:t>B</a:t>
              </a:r>
              <a:endParaRPr lang="es-AR" sz="2000" b="1" dirty="0">
                <a:latin typeface="Arial" panose="020B0604020202020204" pitchFamily="34" charset="0"/>
                <a:cs typeface="Arial" panose="020B0604020202020204" pitchFamily="34" charset="0"/>
              </a:endParaRPr>
            </a:p>
          </p:txBody>
        </p:sp>
      </p:grpSp>
      <p:grpSp>
        <p:nvGrpSpPr>
          <p:cNvPr id="19" name="Grupo 18"/>
          <p:cNvGrpSpPr/>
          <p:nvPr/>
        </p:nvGrpSpPr>
        <p:grpSpPr>
          <a:xfrm>
            <a:off x="4146549" y="5043545"/>
            <a:ext cx="5800725" cy="757237"/>
            <a:chOff x="4143375" y="4900642"/>
            <a:chExt cx="5800725" cy="757237"/>
          </a:xfrm>
        </p:grpSpPr>
        <p:grpSp>
          <p:nvGrpSpPr>
            <p:cNvPr id="16" name="Grupo 15"/>
            <p:cNvGrpSpPr/>
            <p:nvPr/>
          </p:nvGrpSpPr>
          <p:grpSpPr>
            <a:xfrm>
              <a:off x="5746749" y="4900642"/>
              <a:ext cx="2600325" cy="757237"/>
              <a:chOff x="5746749" y="4900642"/>
              <a:chExt cx="2600325" cy="757237"/>
            </a:xfrm>
          </p:grpSpPr>
          <p:sp>
            <p:nvSpPr>
              <p:cNvPr id="4" name="Rectángulo 3"/>
              <p:cNvSpPr/>
              <p:nvPr/>
            </p:nvSpPr>
            <p:spPr>
              <a:xfrm>
                <a:off x="5746749" y="4900642"/>
                <a:ext cx="2600325" cy="757237"/>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CuadroTexto 4"/>
              <p:cNvSpPr txBox="1"/>
              <p:nvPr/>
            </p:nvSpPr>
            <p:spPr>
              <a:xfrm>
                <a:off x="6843713" y="5079205"/>
                <a:ext cx="857250" cy="400110"/>
              </a:xfrm>
              <a:prstGeom prst="rect">
                <a:avLst/>
              </a:prstGeom>
              <a:noFill/>
            </p:spPr>
            <p:txBody>
              <a:bodyPr wrap="square" rtlCol="0">
                <a:spAutoFit/>
              </a:bodyPr>
              <a:lstStyle/>
              <a:p>
                <a:r>
                  <a:rPr lang="es-ES" sz="2000" b="1" dirty="0" smtClean="0">
                    <a:latin typeface="Arial" panose="020B0604020202020204" pitchFamily="34" charset="0"/>
                    <a:cs typeface="Arial" panose="020B0604020202020204" pitchFamily="34" charset="0"/>
                  </a:rPr>
                  <a:t>C</a:t>
                </a:r>
                <a:endParaRPr lang="es-AR" sz="2000" b="1" dirty="0">
                  <a:latin typeface="Arial" panose="020B0604020202020204" pitchFamily="34" charset="0"/>
                  <a:cs typeface="Arial" panose="020B0604020202020204" pitchFamily="34" charset="0"/>
                </a:endParaRPr>
              </a:p>
            </p:txBody>
          </p:sp>
        </p:grpSp>
        <p:cxnSp>
          <p:nvCxnSpPr>
            <p:cNvPr id="11" name="Conector recto 10"/>
            <p:cNvCxnSpPr/>
            <p:nvPr/>
          </p:nvCxnSpPr>
          <p:spPr>
            <a:xfrm flipV="1">
              <a:off x="4143375" y="5657878"/>
              <a:ext cx="5800725" cy="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3" name="Imagen 12"/>
          <p:cNvPicPr>
            <a:picLocks noChangeAspect="1"/>
          </p:cNvPicPr>
          <p:nvPr/>
        </p:nvPicPr>
        <p:blipFill>
          <a:blip r:embed="rId2"/>
          <a:stretch>
            <a:fillRect/>
          </a:stretch>
        </p:blipFill>
        <p:spPr>
          <a:xfrm>
            <a:off x="8986838" y="4126702"/>
            <a:ext cx="1200318" cy="552527"/>
          </a:xfrm>
          <a:prstGeom prst="rect">
            <a:avLst/>
          </a:prstGeom>
        </p:spPr>
      </p:pic>
      <p:pic>
        <p:nvPicPr>
          <p:cNvPr id="14" name="Imagen 13"/>
          <p:cNvPicPr>
            <a:picLocks noChangeAspect="1"/>
          </p:cNvPicPr>
          <p:nvPr/>
        </p:nvPicPr>
        <p:blipFill>
          <a:blip r:embed="rId3"/>
          <a:stretch>
            <a:fillRect/>
          </a:stretch>
        </p:blipFill>
        <p:spPr>
          <a:xfrm>
            <a:off x="8986838" y="4900642"/>
            <a:ext cx="1209844" cy="504895"/>
          </a:xfrm>
          <a:prstGeom prst="rect">
            <a:avLst/>
          </a:prstGeom>
        </p:spPr>
      </p:pic>
      <p:pic>
        <p:nvPicPr>
          <p:cNvPr id="15" name="Imagen 14"/>
          <p:cNvPicPr>
            <a:picLocks noChangeAspect="1"/>
          </p:cNvPicPr>
          <p:nvPr/>
        </p:nvPicPr>
        <p:blipFill>
          <a:blip r:embed="rId4"/>
          <a:stretch>
            <a:fillRect/>
          </a:stretch>
        </p:blipFill>
        <p:spPr>
          <a:xfrm>
            <a:off x="6659561" y="5829248"/>
            <a:ext cx="1114581" cy="600159"/>
          </a:xfrm>
          <a:prstGeom prst="rect">
            <a:avLst/>
          </a:prstGeom>
        </p:spPr>
      </p:pic>
    </p:spTree>
    <p:extLst>
      <p:ext uri="{BB962C8B-B14F-4D97-AF65-F5344CB8AC3E}">
        <p14:creationId xmlns:p14="http://schemas.microsoft.com/office/powerpoint/2010/main" val="412920865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480447"/>
            <a:ext cx="8915399" cy="763320"/>
          </a:xfrm>
        </p:spPr>
        <p:txBody>
          <a:bodyPr>
            <a:normAutofit/>
          </a:bodyPr>
          <a:lstStyle/>
          <a:p>
            <a:r>
              <a:rPr lang="es-ES" sz="4000" dirty="0"/>
              <a:t>Definición de temperatura</a:t>
            </a:r>
            <a:endParaRPr lang="es-AR" sz="4000" dirty="0"/>
          </a:p>
        </p:txBody>
      </p:sp>
      <p:sp>
        <p:nvSpPr>
          <p:cNvPr id="3" name="Subtítulo 2"/>
          <p:cNvSpPr>
            <a:spLocks noGrp="1"/>
          </p:cNvSpPr>
          <p:nvPr>
            <p:ph type="subTitle" idx="1"/>
          </p:nvPr>
        </p:nvSpPr>
        <p:spPr>
          <a:xfrm>
            <a:off x="2589213" y="1398749"/>
            <a:ext cx="8915399" cy="4785075"/>
          </a:xfrm>
        </p:spPr>
        <p:txBody>
          <a:bodyPr>
            <a:noAutofit/>
          </a:bodyPr>
          <a:lstStyle/>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 la temperatura es una</a:t>
            </a:r>
            <a:r>
              <a:rPr lang="es-AR" sz="2000" dirty="0">
                <a:solidFill>
                  <a:schemeClr val="tx1"/>
                </a:solidFill>
                <a:latin typeface="Arial" panose="020B0604020202020204" pitchFamily="34" charset="0"/>
                <a:cs typeface="Arial" panose="020B0604020202020204" pitchFamily="34" charset="0"/>
              </a:rPr>
              <a:t> magnitud escalar relacionada con la energía interna de un sistema termodinámico, definida por el principio cero de la </a:t>
            </a:r>
            <a:r>
              <a:rPr lang="es-AR" sz="2000" dirty="0" smtClean="0">
                <a:solidFill>
                  <a:schemeClr val="tx1"/>
                </a:solidFill>
                <a:latin typeface="Arial" panose="020B0604020202020204" pitchFamily="34" charset="0"/>
                <a:cs typeface="Arial" panose="020B0604020202020204" pitchFamily="34" charset="0"/>
              </a:rPr>
              <a:t>termodinámica...” </a:t>
            </a:r>
            <a:endParaRPr lang="es-AR" sz="2000" dirty="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“…está </a:t>
            </a:r>
            <a:r>
              <a:rPr lang="es-AR" sz="2000" dirty="0">
                <a:solidFill>
                  <a:schemeClr val="tx1"/>
                </a:solidFill>
                <a:latin typeface="Arial" panose="020B0604020202020204" pitchFamily="34" charset="0"/>
                <a:cs typeface="Arial" panose="020B0604020202020204" pitchFamily="34" charset="0"/>
              </a:rPr>
              <a:t>relacionada directamente con la parte de la energía interna conocida como energía cinética, que es la energía asociada a los movimientos de las partículas del sistema, sea en un sentido traslacional, rotacional, o en forma de </a:t>
            </a:r>
            <a:r>
              <a:rPr lang="es-AR" sz="2000" dirty="0" smtClean="0">
                <a:solidFill>
                  <a:schemeClr val="tx1"/>
                </a:solidFill>
                <a:latin typeface="Arial" panose="020B0604020202020204" pitchFamily="34" charset="0"/>
                <a:cs typeface="Arial" panose="020B0604020202020204" pitchFamily="34" charset="0"/>
              </a:rPr>
              <a:t>vibraciones…”</a:t>
            </a:r>
            <a:endParaRPr lang="es-AR" sz="2000" dirty="0">
              <a:solidFill>
                <a:schemeClr val="tx1"/>
              </a:solidFill>
              <a:latin typeface="Arial" panose="020B0604020202020204" pitchFamily="34" charset="0"/>
              <a:cs typeface="Arial" panose="020B0604020202020204" pitchFamily="34" charset="0"/>
            </a:endParaRPr>
          </a:p>
        </p:txBody>
      </p:sp>
      <p:pic>
        <p:nvPicPr>
          <p:cNvPr id="1026" name="Picture 2" descr="https://upload.wikimedia.org/wikipedia/commons/6/6d/Translational_motion.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840296" y="3791286"/>
            <a:ext cx="2413231" cy="211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86547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2" y="561815"/>
            <a:ext cx="8915399" cy="817536"/>
          </a:xfrm>
        </p:spPr>
        <p:txBody>
          <a:bodyPr>
            <a:normAutofit/>
          </a:bodyPr>
          <a:lstStyle/>
          <a:p>
            <a:r>
              <a:rPr lang="es-ES" sz="4000" dirty="0">
                <a:latin typeface="Arial" panose="020B0604020202020204" pitchFamily="34" charset="0"/>
                <a:cs typeface="Arial" panose="020B0604020202020204" pitchFamily="34" charset="0"/>
              </a:rPr>
              <a:t>Medida de la temperatura</a:t>
            </a:r>
            <a:endParaRPr lang="es-AR" sz="4000" dirty="0">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2589213" y="1549831"/>
            <a:ext cx="8915399" cy="5067945"/>
          </a:xfrm>
        </p:spPr>
        <p:txBody>
          <a:bodyPr>
            <a:normAutofit lnSpcReduction="10000"/>
          </a:bodyPr>
          <a:lstStyle/>
          <a:p>
            <a:pPr marL="342900" indent="-342900" algn="just">
              <a:buFont typeface="Arial" panose="020B0604020202020204" pitchFamily="34" charset="0"/>
              <a:buChar char="•"/>
            </a:pPr>
            <a:r>
              <a:rPr lang="es-ES" sz="2000" dirty="0" smtClean="0">
                <a:solidFill>
                  <a:schemeClr val="tx1"/>
                </a:solidFill>
                <a:latin typeface="Arial" panose="020B0604020202020204" pitchFamily="34" charset="0"/>
                <a:cs typeface="Arial" panose="020B0604020202020204" pitchFamily="34" charset="0"/>
              </a:rPr>
              <a:t>“…para establecer una escala de temperatura y construir un termómetro puede utilizarse cualquier propiedad termométrica…”</a:t>
            </a: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“…los </a:t>
            </a:r>
            <a:r>
              <a:rPr lang="es-AR" sz="2000" dirty="0">
                <a:solidFill>
                  <a:schemeClr val="tx1"/>
                </a:solidFill>
                <a:latin typeface="Arial" panose="020B0604020202020204" pitchFamily="34" charset="0"/>
                <a:cs typeface="Arial" panose="020B0604020202020204" pitchFamily="34" charset="0"/>
              </a:rPr>
              <a:t>termómetros son dispositivos que sirven para medir la temperatura de un </a:t>
            </a:r>
            <a:r>
              <a:rPr lang="es-AR" sz="2000" dirty="0" smtClean="0">
                <a:solidFill>
                  <a:schemeClr val="tx1"/>
                </a:solidFill>
                <a:latin typeface="Arial" panose="020B0604020202020204" pitchFamily="34" charset="0"/>
                <a:cs typeface="Arial" panose="020B0604020202020204" pitchFamily="34" charset="0"/>
              </a:rPr>
              <a:t>sistema...”</a:t>
            </a: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“…todos </a:t>
            </a:r>
            <a:r>
              <a:rPr lang="es-AR" sz="2000" dirty="0">
                <a:solidFill>
                  <a:schemeClr val="tx1"/>
                </a:solidFill>
                <a:latin typeface="Arial" panose="020B0604020202020204" pitchFamily="34" charset="0"/>
                <a:cs typeface="Arial" panose="020B0604020202020204" pitchFamily="34" charset="0"/>
              </a:rPr>
              <a:t>los termómetros se basan en el principio de que alguna propiedad física </a:t>
            </a:r>
            <a:r>
              <a:rPr lang="es-AR" sz="2000" dirty="0" smtClean="0">
                <a:solidFill>
                  <a:schemeClr val="tx1"/>
                </a:solidFill>
                <a:latin typeface="Arial" panose="020B0604020202020204" pitchFamily="34" charset="0"/>
                <a:cs typeface="Arial" panose="020B0604020202020204" pitchFamily="34" charset="0"/>
              </a:rPr>
              <a:t>(termométrica) de </a:t>
            </a:r>
            <a:r>
              <a:rPr lang="es-AR" sz="2000" dirty="0">
                <a:solidFill>
                  <a:schemeClr val="tx1"/>
                </a:solidFill>
                <a:latin typeface="Arial" panose="020B0604020202020204" pitchFamily="34" charset="0"/>
                <a:cs typeface="Arial" panose="020B0604020202020204" pitchFamily="34" charset="0"/>
              </a:rPr>
              <a:t>un sistema cambia a medida que varía la temperatura del </a:t>
            </a:r>
            <a:r>
              <a:rPr lang="es-AR" sz="2000" dirty="0" smtClean="0">
                <a:solidFill>
                  <a:schemeClr val="tx1"/>
                </a:solidFill>
                <a:latin typeface="Arial" panose="020B0604020202020204" pitchFamily="34" charset="0"/>
                <a:cs typeface="Arial" panose="020B0604020202020204" pitchFamily="34" charset="0"/>
              </a:rPr>
              <a:t>sistema….”</a:t>
            </a: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Algunas </a:t>
            </a:r>
            <a:r>
              <a:rPr lang="es-AR" sz="2000" dirty="0">
                <a:solidFill>
                  <a:schemeClr val="tx1"/>
                </a:solidFill>
                <a:latin typeface="Arial" panose="020B0604020202020204" pitchFamily="34" charset="0"/>
                <a:cs typeface="Arial" panose="020B0604020202020204" pitchFamily="34" charset="0"/>
              </a:rPr>
              <a:t>propiedades físicas que cambian con la temperatura son </a:t>
            </a:r>
            <a:r>
              <a:rPr lang="es-AR" sz="2000" dirty="0" smtClean="0">
                <a:solidFill>
                  <a:schemeClr val="tx1"/>
                </a:solidFill>
                <a:latin typeface="Arial" panose="020B0604020202020204" pitchFamily="34" charset="0"/>
                <a:cs typeface="Arial" panose="020B0604020202020204" pitchFamily="34" charset="0"/>
              </a:rPr>
              <a:t>:</a:t>
            </a: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el </a:t>
            </a:r>
            <a:r>
              <a:rPr lang="es-AR" sz="1800" dirty="0">
                <a:solidFill>
                  <a:schemeClr val="tx1"/>
                </a:solidFill>
                <a:latin typeface="Arial" panose="020B0604020202020204" pitchFamily="34" charset="0"/>
                <a:cs typeface="Arial" panose="020B0604020202020204" pitchFamily="34" charset="0"/>
              </a:rPr>
              <a:t>volumen de un </a:t>
            </a:r>
            <a:r>
              <a:rPr lang="es-AR" sz="1800" dirty="0" smtClean="0">
                <a:solidFill>
                  <a:schemeClr val="tx1"/>
                </a:solidFill>
                <a:latin typeface="Arial" panose="020B0604020202020204" pitchFamily="34" charset="0"/>
                <a:cs typeface="Arial" panose="020B0604020202020204" pitchFamily="34" charset="0"/>
              </a:rPr>
              <a:t>líquido</a:t>
            </a: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las </a:t>
            </a:r>
            <a:r>
              <a:rPr lang="es-AR" sz="1800" dirty="0">
                <a:solidFill>
                  <a:schemeClr val="tx1"/>
                </a:solidFill>
                <a:latin typeface="Arial" panose="020B0604020202020204" pitchFamily="34" charset="0"/>
                <a:cs typeface="Arial" panose="020B0604020202020204" pitchFamily="34" charset="0"/>
              </a:rPr>
              <a:t>dimensiones de un </a:t>
            </a:r>
            <a:r>
              <a:rPr lang="es-AR" sz="1800" dirty="0" smtClean="0">
                <a:solidFill>
                  <a:schemeClr val="tx1"/>
                </a:solidFill>
                <a:latin typeface="Arial" panose="020B0604020202020204" pitchFamily="34" charset="0"/>
                <a:cs typeface="Arial" panose="020B0604020202020204" pitchFamily="34" charset="0"/>
              </a:rPr>
              <a:t>sólido</a:t>
            </a: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la </a:t>
            </a:r>
            <a:r>
              <a:rPr lang="es-AR" sz="1800" dirty="0">
                <a:solidFill>
                  <a:schemeClr val="tx1"/>
                </a:solidFill>
                <a:latin typeface="Arial" panose="020B0604020202020204" pitchFamily="34" charset="0"/>
                <a:cs typeface="Arial" panose="020B0604020202020204" pitchFamily="34" charset="0"/>
              </a:rPr>
              <a:t>presión de un gas a volumen </a:t>
            </a:r>
            <a:r>
              <a:rPr lang="es-AR" sz="1800" dirty="0" smtClean="0">
                <a:solidFill>
                  <a:schemeClr val="tx1"/>
                </a:solidFill>
                <a:latin typeface="Arial" panose="020B0604020202020204" pitchFamily="34" charset="0"/>
                <a:cs typeface="Arial" panose="020B0604020202020204" pitchFamily="34" charset="0"/>
              </a:rPr>
              <a:t>constante</a:t>
            </a: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el </a:t>
            </a:r>
            <a:r>
              <a:rPr lang="es-AR" sz="1800" dirty="0">
                <a:solidFill>
                  <a:schemeClr val="tx1"/>
                </a:solidFill>
                <a:latin typeface="Arial" panose="020B0604020202020204" pitchFamily="34" charset="0"/>
                <a:cs typeface="Arial" panose="020B0604020202020204" pitchFamily="34" charset="0"/>
              </a:rPr>
              <a:t>volumen de un gas a presión </a:t>
            </a:r>
            <a:r>
              <a:rPr lang="es-AR" sz="1800" dirty="0" smtClean="0">
                <a:solidFill>
                  <a:schemeClr val="tx1"/>
                </a:solidFill>
                <a:latin typeface="Arial" panose="020B0604020202020204" pitchFamily="34" charset="0"/>
                <a:cs typeface="Arial" panose="020B0604020202020204" pitchFamily="34" charset="0"/>
              </a:rPr>
              <a:t>constante</a:t>
            </a: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la </a:t>
            </a:r>
            <a:r>
              <a:rPr lang="es-AR" sz="1800" dirty="0">
                <a:solidFill>
                  <a:schemeClr val="tx1"/>
                </a:solidFill>
                <a:latin typeface="Arial" panose="020B0604020202020204" pitchFamily="34" charset="0"/>
                <a:cs typeface="Arial" panose="020B0604020202020204" pitchFamily="34" charset="0"/>
              </a:rPr>
              <a:t>resistencia eléctrica de un conductor </a:t>
            </a:r>
            <a:endParaRPr lang="es-AR" sz="1800" dirty="0" smtClean="0">
              <a:solidFill>
                <a:schemeClr val="tx1"/>
              </a:solidFill>
              <a:latin typeface="Arial" panose="020B0604020202020204" pitchFamily="34" charset="0"/>
              <a:cs typeface="Arial" panose="020B0604020202020204" pitchFamily="34" charset="0"/>
            </a:endParaRPr>
          </a:p>
          <a:p>
            <a:pPr marL="800100" lvl="1" indent="-342900" algn="l">
              <a:buFont typeface="Arial" panose="020B0604020202020204" pitchFamily="34" charset="0"/>
              <a:buChar char="•"/>
            </a:pPr>
            <a:r>
              <a:rPr lang="es-AR" sz="1800" dirty="0" smtClean="0">
                <a:solidFill>
                  <a:schemeClr val="tx1"/>
                </a:solidFill>
                <a:latin typeface="Arial" panose="020B0604020202020204" pitchFamily="34" charset="0"/>
                <a:cs typeface="Arial" panose="020B0604020202020204" pitchFamily="34" charset="0"/>
              </a:rPr>
              <a:t>el </a:t>
            </a:r>
            <a:r>
              <a:rPr lang="es-AR" sz="1800" dirty="0">
                <a:solidFill>
                  <a:schemeClr val="tx1"/>
                </a:solidFill>
                <a:latin typeface="Arial" panose="020B0604020202020204" pitchFamily="34" charset="0"/>
                <a:cs typeface="Arial" panose="020B0604020202020204" pitchFamily="34" charset="0"/>
              </a:rPr>
              <a:t>color de un objeto</a:t>
            </a:r>
            <a:endParaRPr lang="es-ES" sz="1800" dirty="0" smtClean="0">
              <a:solidFill>
                <a:schemeClr val="tx1"/>
              </a:solidFill>
              <a:latin typeface="Arial" panose="020B0604020202020204" pitchFamily="34" charset="0"/>
              <a:cs typeface="Arial" panose="020B0604020202020204" pitchFamily="34" charset="0"/>
            </a:endParaRPr>
          </a:p>
          <a:p>
            <a:endParaRPr lang="es-A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831899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stretch>
            <a:fillRect/>
          </a:stretch>
        </p:blipFill>
        <p:spPr>
          <a:xfrm>
            <a:off x="5992655" y="1198932"/>
            <a:ext cx="1515720" cy="4620587"/>
          </a:xfrm>
          <a:prstGeom prst="rect">
            <a:avLst/>
          </a:prstGeom>
        </p:spPr>
      </p:pic>
      <p:pic>
        <p:nvPicPr>
          <p:cNvPr id="4" name="Imagen 3"/>
          <p:cNvPicPr>
            <a:picLocks noChangeAspect="1"/>
          </p:cNvPicPr>
          <p:nvPr/>
        </p:nvPicPr>
        <p:blipFill>
          <a:blip r:embed="rId3"/>
          <a:stretch>
            <a:fillRect/>
          </a:stretch>
        </p:blipFill>
        <p:spPr>
          <a:xfrm>
            <a:off x="2899178" y="1202465"/>
            <a:ext cx="1587806" cy="4453099"/>
          </a:xfrm>
          <a:prstGeom prst="rect">
            <a:avLst/>
          </a:prstGeom>
        </p:spPr>
      </p:pic>
      <p:pic>
        <p:nvPicPr>
          <p:cNvPr id="5" name="Imagen 4"/>
          <p:cNvPicPr>
            <a:picLocks noChangeAspect="1"/>
          </p:cNvPicPr>
          <p:nvPr/>
        </p:nvPicPr>
        <p:blipFill>
          <a:blip r:embed="rId4"/>
          <a:stretch>
            <a:fillRect/>
          </a:stretch>
        </p:blipFill>
        <p:spPr>
          <a:xfrm>
            <a:off x="2869124" y="1197674"/>
            <a:ext cx="1617860" cy="4457889"/>
          </a:xfrm>
          <a:prstGeom prst="rect">
            <a:avLst/>
          </a:prstGeom>
        </p:spPr>
      </p:pic>
      <p:sp>
        <p:nvSpPr>
          <p:cNvPr id="6" name="CuadroTexto 5"/>
          <p:cNvSpPr txBox="1"/>
          <p:nvPr/>
        </p:nvSpPr>
        <p:spPr>
          <a:xfrm>
            <a:off x="2852501" y="5765369"/>
            <a:ext cx="1673817" cy="369332"/>
          </a:xfrm>
          <a:prstGeom prst="rect">
            <a:avLst/>
          </a:prstGeom>
          <a:noFill/>
        </p:spPr>
        <p:txBody>
          <a:bodyPr wrap="square" rtlCol="0">
            <a:spAutoFit/>
          </a:bodyPr>
          <a:lstStyle/>
          <a:p>
            <a:r>
              <a:rPr lang="es-ES" b="1" dirty="0" smtClean="0"/>
              <a:t>Hielo + Agua</a:t>
            </a:r>
            <a:endParaRPr lang="es-AR" b="1" dirty="0"/>
          </a:p>
        </p:txBody>
      </p:sp>
      <p:pic>
        <p:nvPicPr>
          <p:cNvPr id="7" name="Imagen 6"/>
          <p:cNvPicPr>
            <a:picLocks noChangeAspect="1"/>
          </p:cNvPicPr>
          <p:nvPr/>
        </p:nvPicPr>
        <p:blipFill>
          <a:blip r:embed="rId5"/>
          <a:stretch>
            <a:fillRect/>
          </a:stretch>
        </p:blipFill>
        <p:spPr>
          <a:xfrm>
            <a:off x="5992655" y="1198932"/>
            <a:ext cx="1477528" cy="4620587"/>
          </a:xfrm>
          <a:prstGeom prst="rect">
            <a:avLst/>
          </a:prstGeom>
        </p:spPr>
      </p:pic>
      <p:sp>
        <p:nvSpPr>
          <p:cNvPr id="9" name="CuadroTexto 8"/>
          <p:cNvSpPr txBox="1"/>
          <p:nvPr/>
        </p:nvSpPr>
        <p:spPr>
          <a:xfrm>
            <a:off x="5992655" y="5765369"/>
            <a:ext cx="1906292" cy="369332"/>
          </a:xfrm>
          <a:prstGeom prst="rect">
            <a:avLst/>
          </a:prstGeom>
          <a:noFill/>
        </p:spPr>
        <p:txBody>
          <a:bodyPr wrap="square" rtlCol="0">
            <a:spAutoFit/>
          </a:bodyPr>
          <a:lstStyle/>
          <a:p>
            <a:r>
              <a:rPr lang="es-ES" b="1" dirty="0" smtClean="0"/>
              <a:t>Vapor + Aire</a:t>
            </a:r>
            <a:endParaRPr lang="es-AR" b="1" dirty="0"/>
          </a:p>
        </p:txBody>
      </p:sp>
      <p:pic>
        <p:nvPicPr>
          <p:cNvPr id="12" name="Imagen 11"/>
          <p:cNvPicPr>
            <a:picLocks noChangeAspect="1"/>
          </p:cNvPicPr>
          <p:nvPr/>
        </p:nvPicPr>
        <p:blipFill>
          <a:blip r:embed="rId6"/>
          <a:stretch>
            <a:fillRect/>
          </a:stretch>
        </p:blipFill>
        <p:spPr>
          <a:xfrm>
            <a:off x="9425899" y="1197674"/>
            <a:ext cx="1605043" cy="4530957"/>
          </a:xfrm>
          <a:prstGeom prst="rect">
            <a:avLst/>
          </a:prstGeom>
        </p:spPr>
      </p:pic>
      <p:pic>
        <p:nvPicPr>
          <p:cNvPr id="15" name="Imagen 14"/>
          <p:cNvPicPr>
            <a:picLocks noChangeAspect="1"/>
          </p:cNvPicPr>
          <p:nvPr/>
        </p:nvPicPr>
        <p:blipFill>
          <a:blip r:embed="rId7"/>
          <a:stretch>
            <a:fillRect/>
          </a:stretch>
        </p:blipFill>
        <p:spPr>
          <a:xfrm>
            <a:off x="10463985" y="1197674"/>
            <a:ext cx="566957" cy="2975271"/>
          </a:xfrm>
          <a:prstGeom prst="rect">
            <a:avLst/>
          </a:prstGeom>
        </p:spPr>
      </p:pic>
      <p:sp>
        <p:nvSpPr>
          <p:cNvPr id="16" name="CuadroTexto 15"/>
          <p:cNvSpPr txBox="1"/>
          <p:nvPr/>
        </p:nvSpPr>
        <p:spPr>
          <a:xfrm>
            <a:off x="9326570" y="5788522"/>
            <a:ext cx="1757212" cy="369332"/>
          </a:xfrm>
          <a:prstGeom prst="rect">
            <a:avLst/>
          </a:prstGeom>
          <a:noFill/>
        </p:spPr>
        <p:txBody>
          <a:bodyPr wrap="none" rtlCol="0">
            <a:spAutoFit/>
          </a:bodyPr>
          <a:lstStyle/>
          <a:p>
            <a:r>
              <a:rPr lang="es-ES" b="1" dirty="0" smtClean="0"/>
              <a:t>Escala Celsius</a:t>
            </a:r>
            <a:endParaRPr lang="es-AR" b="1" dirty="0"/>
          </a:p>
        </p:txBody>
      </p:sp>
      <p:sp>
        <p:nvSpPr>
          <p:cNvPr id="17" name="Título 1"/>
          <p:cNvSpPr>
            <a:spLocks noGrp="1"/>
          </p:cNvSpPr>
          <p:nvPr>
            <p:ph type="ctrTitle"/>
          </p:nvPr>
        </p:nvSpPr>
        <p:spPr>
          <a:xfrm>
            <a:off x="2273719" y="320247"/>
            <a:ext cx="8915399" cy="817536"/>
          </a:xfrm>
        </p:spPr>
        <p:txBody>
          <a:bodyPr>
            <a:normAutofit fontScale="90000"/>
          </a:bodyPr>
          <a:lstStyle/>
          <a:p>
            <a:r>
              <a:rPr lang="es-ES" sz="4000" dirty="0">
                <a:latin typeface="Arial" panose="020B0604020202020204" pitchFamily="34" charset="0"/>
                <a:cs typeface="Arial" panose="020B0604020202020204" pitchFamily="34" charset="0"/>
              </a:rPr>
              <a:t>Medida de la </a:t>
            </a:r>
            <a:r>
              <a:rPr lang="es-ES" sz="4000" dirty="0" smtClean="0">
                <a:latin typeface="Arial" panose="020B0604020202020204" pitchFamily="34" charset="0"/>
                <a:cs typeface="Arial" panose="020B0604020202020204" pitchFamily="34" charset="0"/>
              </a:rPr>
              <a:t>temperatura - Termómetros</a:t>
            </a:r>
            <a:endParaRPr lang="es-A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651736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20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down)">
                                      <p:cBhvr>
                                        <p:cTn id="38" dur="30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ctrTitle"/>
          </p:nvPr>
        </p:nvSpPr>
        <p:spPr>
          <a:xfrm>
            <a:off x="2418732" y="313841"/>
            <a:ext cx="8915399" cy="864031"/>
          </a:xfrm>
        </p:spPr>
        <p:txBody>
          <a:bodyPr>
            <a:normAutofit fontScale="90000"/>
          </a:bodyPr>
          <a:lstStyle/>
          <a:p>
            <a:r>
              <a:rPr lang="es-ES" sz="4000" dirty="0">
                <a:latin typeface="Arial" panose="020B0604020202020204" pitchFamily="34" charset="0"/>
                <a:cs typeface="Arial" panose="020B0604020202020204" pitchFamily="34" charset="0"/>
              </a:rPr>
              <a:t>Medida de la </a:t>
            </a:r>
            <a:r>
              <a:rPr lang="es-ES" sz="4000" dirty="0" smtClean="0">
                <a:latin typeface="Arial" panose="020B0604020202020204" pitchFamily="34" charset="0"/>
                <a:cs typeface="Arial" panose="020B0604020202020204" pitchFamily="34" charset="0"/>
              </a:rPr>
              <a:t>temperatura - Termómetros</a:t>
            </a:r>
            <a:endParaRPr lang="es-AR" sz="40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3084083" y="1618686"/>
            <a:ext cx="1534412" cy="4323343"/>
          </a:xfrm>
          <a:prstGeom prst="rect">
            <a:avLst/>
          </a:prstGeom>
        </p:spPr>
      </p:pic>
      <p:pic>
        <p:nvPicPr>
          <p:cNvPr id="7" name="Imagen 6"/>
          <p:cNvPicPr>
            <a:picLocks noChangeAspect="1"/>
          </p:cNvPicPr>
          <p:nvPr/>
        </p:nvPicPr>
        <p:blipFill>
          <a:blip r:embed="rId3"/>
          <a:stretch>
            <a:fillRect/>
          </a:stretch>
        </p:blipFill>
        <p:spPr>
          <a:xfrm>
            <a:off x="3084083" y="1618686"/>
            <a:ext cx="1534411" cy="4323344"/>
          </a:xfrm>
          <a:prstGeom prst="rect">
            <a:avLst/>
          </a:prstGeom>
        </p:spPr>
      </p:pic>
      <p:sp>
        <p:nvSpPr>
          <p:cNvPr id="8" name="CuadroTexto 7"/>
          <p:cNvSpPr txBox="1"/>
          <p:nvPr/>
        </p:nvSpPr>
        <p:spPr>
          <a:xfrm>
            <a:off x="2944678" y="5757364"/>
            <a:ext cx="1673817" cy="369332"/>
          </a:xfrm>
          <a:prstGeom prst="rect">
            <a:avLst/>
          </a:prstGeom>
          <a:noFill/>
        </p:spPr>
        <p:txBody>
          <a:bodyPr wrap="square" rtlCol="0">
            <a:spAutoFit/>
          </a:bodyPr>
          <a:lstStyle/>
          <a:p>
            <a:r>
              <a:rPr lang="es-ES" b="1" dirty="0" smtClean="0"/>
              <a:t>Hielo + Agua</a:t>
            </a:r>
            <a:endParaRPr lang="es-AR" b="1" dirty="0"/>
          </a:p>
        </p:txBody>
      </p:sp>
      <p:pic>
        <p:nvPicPr>
          <p:cNvPr id="10" name="Imagen 9"/>
          <p:cNvPicPr>
            <a:picLocks noChangeAspect="1"/>
          </p:cNvPicPr>
          <p:nvPr/>
        </p:nvPicPr>
        <p:blipFill>
          <a:blip r:embed="rId4"/>
          <a:stretch>
            <a:fillRect/>
          </a:stretch>
        </p:blipFill>
        <p:spPr>
          <a:xfrm>
            <a:off x="6178128" y="1618686"/>
            <a:ext cx="1396606" cy="4317228"/>
          </a:xfrm>
          <a:prstGeom prst="rect">
            <a:avLst/>
          </a:prstGeom>
        </p:spPr>
      </p:pic>
      <p:pic>
        <p:nvPicPr>
          <p:cNvPr id="13" name="Imagen 12"/>
          <p:cNvPicPr>
            <a:picLocks noChangeAspect="1"/>
          </p:cNvPicPr>
          <p:nvPr/>
        </p:nvPicPr>
        <p:blipFill>
          <a:blip r:embed="rId5"/>
          <a:stretch>
            <a:fillRect/>
          </a:stretch>
        </p:blipFill>
        <p:spPr>
          <a:xfrm>
            <a:off x="6178128" y="1618687"/>
            <a:ext cx="1396606" cy="4317228"/>
          </a:xfrm>
          <a:prstGeom prst="rect">
            <a:avLst/>
          </a:prstGeom>
        </p:spPr>
      </p:pic>
      <p:sp>
        <p:nvSpPr>
          <p:cNvPr id="12" name="CuadroTexto 11"/>
          <p:cNvSpPr txBox="1"/>
          <p:nvPr/>
        </p:nvSpPr>
        <p:spPr>
          <a:xfrm>
            <a:off x="6101731" y="5757364"/>
            <a:ext cx="1906292" cy="369332"/>
          </a:xfrm>
          <a:prstGeom prst="rect">
            <a:avLst/>
          </a:prstGeom>
          <a:noFill/>
        </p:spPr>
        <p:txBody>
          <a:bodyPr wrap="square" rtlCol="0">
            <a:spAutoFit/>
          </a:bodyPr>
          <a:lstStyle/>
          <a:p>
            <a:r>
              <a:rPr lang="es-ES" b="1" dirty="0" smtClean="0"/>
              <a:t>Vapor + Aire</a:t>
            </a:r>
            <a:endParaRPr lang="es-AR" b="1" dirty="0"/>
          </a:p>
        </p:txBody>
      </p:sp>
      <p:pic>
        <p:nvPicPr>
          <p:cNvPr id="15" name="Imagen 14"/>
          <p:cNvPicPr>
            <a:picLocks noChangeAspect="1"/>
          </p:cNvPicPr>
          <p:nvPr/>
        </p:nvPicPr>
        <p:blipFill>
          <a:blip r:embed="rId6"/>
          <a:stretch>
            <a:fillRect/>
          </a:stretch>
        </p:blipFill>
        <p:spPr>
          <a:xfrm>
            <a:off x="8931431" y="1618686"/>
            <a:ext cx="1406407" cy="4317228"/>
          </a:xfrm>
          <a:prstGeom prst="rect">
            <a:avLst/>
          </a:prstGeom>
        </p:spPr>
      </p:pic>
      <p:sp>
        <p:nvSpPr>
          <p:cNvPr id="17" name="CuadroTexto 16"/>
          <p:cNvSpPr txBox="1"/>
          <p:nvPr/>
        </p:nvSpPr>
        <p:spPr>
          <a:xfrm>
            <a:off x="8524069" y="5728077"/>
            <a:ext cx="2221129" cy="369332"/>
          </a:xfrm>
          <a:prstGeom prst="rect">
            <a:avLst/>
          </a:prstGeom>
          <a:noFill/>
        </p:spPr>
        <p:txBody>
          <a:bodyPr wrap="square" rtlCol="0">
            <a:spAutoFit/>
          </a:bodyPr>
          <a:lstStyle/>
          <a:p>
            <a:r>
              <a:rPr lang="es-ES" b="1" dirty="0" smtClean="0"/>
              <a:t>Escala Fahrenheit</a:t>
            </a:r>
            <a:endParaRPr lang="es-AR" b="1" dirty="0"/>
          </a:p>
        </p:txBody>
      </p:sp>
      <p:pic>
        <p:nvPicPr>
          <p:cNvPr id="18" name="Imagen 17"/>
          <p:cNvPicPr>
            <a:picLocks noChangeAspect="1"/>
          </p:cNvPicPr>
          <p:nvPr/>
        </p:nvPicPr>
        <p:blipFill>
          <a:blip r:embed="rId7"/>
          <a:stretch>
            <a:fillRect/>
          </a:stretch>
        </p:blipFill>
        <p:spPr>
          <a:xfrm>
            <a:off x="8931430" y="1618686"/>
            <a:ext cx="499173" cy="2734950"/>
          </a:xfrm>
          <a:prstGeom prst="rect">
            <a:avLst/>
          </a:prstGeom>
        </p:spPr>
      </p:pic>
    </p:spTree>
    <p:extLst>
      <p:ext uri="{BB962C8B-B14F-4D97-AF65-F5344CB8AC3E}">
        <p14:creationId xmlns:p14="http://schemas.microsoft.com/office/powerpoint/2010/main" val="66019918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20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20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22" presetClass="entr" presetSubtype="4"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down)">
                                      <p:cBhvr>
                                        <p:cTn id="36" dur="20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solidFill>
                  <a:schemeClr val="tx1"/>
                </a:solidFill>
                <a:latin typeface="Arial" panose="020B0604020202020204" pitchFamily="34" charset="0"/>
                <a:cs typeface="Arial" panose="020B0604020202020204" pitchFamily="34" charset="0"/>
              </a:rPr>
              <a:t>Las escalas de temperatura Celsius, Fahrenheit y Kelvin</a:t>
            </a:r>
            <a:endParaRPr lang="es-AR" dirty="0"/>
          </a:p>
        </p:txBody>
      </p:sp>
      <p:grpSp>
        <p:nvGrpSpPr>
          <p:cNvPr id="12" name="Grupo 11"/>
          <p:cNvGrpSpPr/>
          <p:nvPr/>
        </p:nvGrpSpPr>
        <p:grpSpPr>
          <a:xfrm>
            <a:off x="2413668" y="2128534"/>
            <a:ext cx="2741995" cy="2896765"/>
            <a:chOff x="2413668" y="2128534"/>
            <a:chExt cx="2741995" cy="2896765"/>
          </a:xfrm>
        </p:grpSpPr>
        <p:pic>
          <p:nvPicPr>
            <p:cNvPr id="4" name="Imagen 3"/>
            <p:cNvPicPr>
              <a:picLocks noChangeAspect="1"/>
            </p:cNvPicPr>
            <p:nvPr/>
          </p:nvPicPr>
          <p:blipFill>
            <a:blip r:embed="rId2"/>
            <a:stretch>
              <a:fillRect/>
            </a:stretch>
          </p:blipFill>
          <p:spPr>
            <a:xfrm>
              <a:off x="2413668" y="2128534"/>
              <a:ext cx="2741995" cy="2250434"/>
            </a:xfrm>
            <a:prstGeom prst="rect">
              <a:avLst/>
            </a:prstGeom>
          </p:spPr>
        </p:pic>
        <p:sp>
          <p:nvSpPr>
            <p:cNvPr id="9" name="Rectángulo 8"/>
            <p:cNvSpPr/>
            <p:nvPr/>
          </p:nvSpPr>
          <p:spPr>
            <a:xfrm>
              <a:off x="2614001" y="4378968"/>
              <a:ext cx="2341328" cy="646331"/>
            </a:xfrm>
            <a:prstGeom prst="rect">
              <a:avLst/>
            </a:prstGeom>
          </p:spPr>
          <p:txBody>
            <a:bodyPr wrap="square">
              <a:spAutoFit/>
            </a:bodyPr>
            <a:lstStyle/>
            <a:p>
              <a:pPr algn="ctr"/>
              <a:r>
                <a:rPr lang="es-AR" b="1" dirty="0"/>
                <a:t> </a:t>
              </a:r>
              <a:r>
                <a:rPr lang="es-AR" b="1" dirty="0" err="1" smtClean="0"/>
                <a:t>Andres</a:t>
              </a:r>
              <a:r>
                <a:rPr lang="es-AR" b="1" dirty="0" smtClean="0"/>
                <a:t> </a:t>
              </a:r>
              <a:r>
                <a:rPr lang="es-AR" b="1" dirty="0"/>
                <a:t>Celsius (1701–1744)</a:t>
              </a:r>
            </a:p>
          </p:txBody>
        </p:sp>
      </p:grpSp>
      <p:grpSp>
        <p:nvGrpSpPr>
          <p:cNvPr id="13" name="Grupo 12"/>
          <p:cNvGrpSpPr/>
          <p:nvPr/>
        </p:nvGrpSpPr>
        <p:grpSpPr>
          <a:xfrm>
            <a:off x="5414558" y="2128533"/>
            <a:ext cx="2610505" cy="3173765"/>
            <a:chOff x="5414558" y="2128533"/>
            <a:chExt cx="2610505" cy="3173765"/>
          </a:xfrm>
        </p:grpSpPr>
        <p:pic>
          <p:nvPicPr>
            <p:cNvPr id="5" name="Imagen 4"/>
            <p:cNvPicPr>
              <a:picLocks noChangeAspect="1"/>
            </p:cNvPicPr>
            <p:nvPr/>
          </p:nvPicPr>
          <p:blipFill>
            <a:blip r:embed="rId3"/>
            <a:stretch>
              <a:fillRect/>
            </a:stretch>
          </p:blipFill>
          <p:spPr>
            <a:xfrm>
              <a:off x="5414558" y="2128533"/>
              <a:ext cx="2610505" cy="2250435"/>
            </a:xfrm>
            <a:prstGeom prst="rect">
              <a:avLst/>
            </a:prstGeom>
          </p:spPr>
        </p:pic>
        <p:sp>
          <p:nvSpPr>
            <p:cNvPr id="10" name="Rectángulo 9"/>
            <p:cNvSpPr/>
            <p:nvPr/>
          </p:nvSpPr>
          <p:spPr>
            <a:xfrm>
              <a:off x="5414558" y="4378968"/>
              <a:ext cx="2610505" cy="923330"/>
            </a:xfrm>
            <a:prstGeom prst="rect">
              <a:avLst/>
            </a:prstGeom>
          </p:spPr>
          <p:txBody>
            <a:bodyPr wrap="square">
              <a:spAutoFit/>
            </a:bodyPr>
            <a:lstStyle/>
            <a:p>
              <a:pPr algn="ctr"/>
              <a:r>
                <a:rPr lang="es-AR" b="1" dirty="0">
                  <a:latin typeface="Arial" panose="020B0604020202020204" pitchFamily="34" charset="0"/>
                  <a:cs typeface="Arial" panose="020B0604020202020204" pitchFamily="34" charset="0"/>
                </a:rPr>
                <a:t> Daniel Gabriel </a:t>
              </a:r>
              <a:r>
                <a:rPr lang="es-AR" b="1" dirty="0" smtClean="0">
                  <a:latin typeface="Arial" panose="020B0604020202020204" pitchFamily="34" charset="0"/>
                  <a:cs typeface="Arial" panose="020B0604020202020204" pitchFamily="34" charset="0"/>
                </a:rPr>
                <a:t>Fahrenheit</a:t>
              </a:r>
            </a:p>
            <a:p>
              <a:pPr algn="ctr"/>
              <a:r>
                <a:rPr lang="es-AR" b="1" dirty="0" smtClean="0">
                  <a:latin typeface="Arial" panose="020B0604020202020204" pitchFamily="34" charset="0"/>
                  <a:cs typeface="Arial" panose="020B0604020202020204" pitchFamily="34" charset="0"/>
                </a:rPr>
                <a:t>(1686–1736</a:t>
              </a:r>
              <a:r>
                <a:rPr lang="es-AR" b="1" dirty="0">
                  <a:latin typeface="Arial" panose="020B0604020202020204" pitchFamily="34" charset="0"/>
                  <a:cs typeface="Arial" panose="020B0604020202020204" pitchFamily="34" charset="0"/>
                </a:rPr>
                <a:t>)</a:t>
              </a:r>
            </a:p>
          </p:txBody>
        </p:sp>
      </p:grpSp>
      <p:grpSp>
        <p:nvGrpSpPr>
          <p:cNvPr id="14" name="Grupo 13"/>
          <p:cNvGrpSpPr/>
          <p:nvPr/>
        </p:nvGrpSpPr>
        <p:grpSpPr>
          <a:xfrm>
            <a:off x="8283958" y="2128533"/>
            <a:ext cx="2307624" cy="3262238"/>
            <a:chOff x="8481905" y="2132393"/>
            <a:chExt cx="2307624" cy="3262238"/>
          </a:xfrm>
        </p:grpSpPr>
        <p:pic>
          <p:nvPicPr>
            <p:cNvPr id="7" name="Imagen 6"/>
            <p:cNvPicPr>
              <a:picLocks noChangeAspect="1"/>
            </p:cNvPicPr>
            <p:nvPr/>
          </p:nvPicPr>
          <p:blipFill>
            <a:blip r:embed="rId4"/>
            <a:stretch>
              <a:fillRect/>
            </a:stretch>
          </p:blipFill>
          <p:spPr>
            <a:xfrm>
              <a:off x="8481905" y="2132393"/>
              <a:ext cx="2307624" cy="2246575"/>
            </a:xfrm>
            <a:prstGeom prst="rect">
              <a:avLst/>
            </a:prstGeom>
          </p:spPr>
        </p:pic>
        <p:sp>
          <p:nvSpPr>
            <p:cNvPr id="11" name="Rectángulo 10"/>
            <p:cNvSpPr/>
            <p:nvPr/>
          </p:nvSpPr>
          <p:spPr>
            <a:xfrm>
              <a:off x="8484292" y="4471301"/>
              <a:ext cx="2305237" cy="923330"/>
            </a:xfrm>
            <a:prstGeom prst="rect">
              <a:avLst/>
            </a:prstGeom>
          </p:spPr>
          <p:txBody>
            <a:bodyPr wrap="square">
              <a:spAutoFit/>
            </a:bodyPr>
            <a:lstStyle/>
            <a:p>
              <a:pPr algn="ctr"/>
              <a:r>
                <a:rPr lang="es-AR" b="1" dirty="0">
                  <a:latin typeface="Arial" panose="020B0604020202020204" pitchFamily="34" charset="0"/>
                  <a:cs typeface="Arial" panose="020B0604020202020204" pitchFamily="34" charset="0"/>
                </a:rPr>
                <a:t> William </a:t>
              </a:r>
              <a:r>
                <a:rPr lang="es-AR" b="1" dirty="0" smtClean="0">
                  <a:latin typeface="Arial" panose="020B0604020202020204" pitchFamily="34" charset="0"/>
                  <a:cs typeface="Arial" panose="020B0604020202020204" pitchFamily="34" charset="0"/>
                </a:rPr>
                <a:t>Thomson </a:t>
              </a:r>
            </a:p>
            <a:p>
              <a:pPr algn="ctr"/>
              <a:r>
                <a:rPr lang="es-AR" b="1" dirty="0" smtClean="0">
                  <a:latin typeface="Arial" panose="020B0604020202020204" pitchFamily="34" charset="0"/>
                  <a:cs typeface="Arial" panose="020B0604020202020204" pitchFamily="34" charset="0"/>
                </a:rPr>
                <a:t>lord </a:t>
              </a:r>
              <a:r>
                <a:rPr lang="es-AR" b="1" dirty="0">
                  <a:latin typeface="Arial" panose="020B0604020202020204" pitchFamily="34" charset="0"/>
                  <a:cs typeface="Arial" panose="020B0604020202020204" pitchFamily="34" charset="0"/>
                </a:rPr>
                <a:t>Kelvin </a:t>
              </a:r>
              <a:endParaRPr lang="es-AR" b="1" dirty="0" smtClean="0">
                <a:latin typeface="Arial" panose="020B0604020202020204" pitchFamily="34" charset="0"/>
                <a:cs typeface="Arial" panose="020B0604020202020204" pitchFamily="34" charset="0"/>
              </a:endParaRPr>
            </a:p>
            <a:p>
              <a:pPr algn="ctr"/>
              <a:r>
                <a:rPr lang="es-AR" b="1" dirty="0" smtClean="0">
                  <a:latin typeface="Arial" panose="020B0604020202020204" pitchFamily="34" charset="0"/>
                  <a:cs typeface="Arial" panose="020B0604020202020204" pitchFamily="34" charset="0"/>
                </a:rPr>
                <a:t>(</a:t>
              </a:r>
              <a:r>
                <a:rPr lang="es-AR" b="1" dirty="0">
                  <a:latin typeface="Arial" panose="020B0604020202020204" pitchFamily="34" charset="0"/>
                  <a:cs typeface="Arial" panose="020B0604020202020204" pitchFamily="34" charset="0"/>
                </a:rPr>
                <a:t>1824–1907)</a:t>
              </a:r>
            </a:p>
          </p:txBody>
        </p:sp>
      </p:grpSp>
    </p:spTree>
    <p:extLst>
      <p:ext uri="{BB962C8B-B14F-4D97-AF65-F5344CB8AC3E}">
        <p14:creationId xmlns:p14="http://schemas.microsoft.com/office/powerpoint/2010/main" val="125774299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30278" y="422632"/>
            <a:ext cx="9470621" cy="1280890"/>
          </a:xfrm>
        </p:spPr>
        <p:txBody>
          <a:bodyPr>
            <a:noAutofit/>
          </a:bodyPr>
          <a:lstStyle/>
          <a:p>
            <a:r>
              <a:rPr lang="es-AR" sz="4000" dirty="0">
                <a:solidFill>
                  <a:schemeClr val="tx1"/>
                </a:solidFill>
                <a:latin typeface="Arial" panose="020B0604020202020204" pitchFamily="34" charset="0"/>
                <a:cs typeface="Arial" panose="020B0604020202020204" pitchFamily="34" charset="0"/>
              </a:rPr>
              <a:t>Las escalas de temperatura Celsius, Fahrenheit y </a:t>
            </a:r>
            <a:r>
              <a:rPr lang="es-AR" sz="4000" dirty="0" smtClean="0">
                <a:solidFill>
                  <a:schemeClr val="tx1"/>
                </a:solidFill>
                <a:latin typeface="Arial" panose="020B0604020202020204" pitchFamily="34" charset="0"/>
                <a:cs typeface="Arial" panose="020B0604020202020204" pitchFamily="34" charset="0"/>
              </a:rPr>
              <a:t>Kelvin</a:t>
            </a:r>
            <a:endParaRPr lang="es-AR" sz="40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488894" y="1912057"/>
                <a:ext cx="6179942" cy="4625221"/>
              </a:xfrm>
            </p:spPr>
            <p:txBody>
              <a:bodyPr>
                <a:normAutofit/>
              </a:bodyPr>
              <a:lstStyle/>
              <a:p>
                <a14:m>
                  <m:oMath xmlns:m="http://schemas.openxmlformats.org/officeDocument/2006/math">
                    <m:f>
                      <m:fPr>
                        <m:ctrlPr>
                          <a:rPr lang="es-AR" sz="2000" i="1" smtClean="0">
                            <a:solidFill>
                              <a:schemeClr val="tx1"/>
                            </a:solidFill>
                            <a:latin typeface="Cambria Math" panose="02040503050406030204" pitchFamily="18" charset="0"/>
                          </a:rPr>
                        </m:ctrlPr>
                      </m:fPr>
                      <m:num>
                        <m:r>
                          <a:rPr lang="es-ES" sz="2000" b="0" i="1" smtClean="0">
                            <a:solidFill>
                              <a:schemeClr val="tx1"/>
                            </a:solidFill>
                            <a:latin typeface="Cambria Math" panose="02040503050406030204" pitchFamily="18" charset="0"/>
                          </a:rPr>
                          <m:t>𝑥</m:t>
                        </m:r>
                        <m:r>
                          <a:rPr lang="es-ES" sz="2000" b="0" i="1" smtClean="0">
                            <a:solidFill>
                              <a:schemeClr val="tx1"/>
                            </a:solidFill>
                            <a:latin typeface="Cambria Math" panose="02040503050406030204" pitchFamily="18" charset="0"/>
                          </a:rPr>
                          <m:t> °</m:t>
                        </m:r>
                        <m:r>
                          <a:rPr lang="es-ES" sz="2000" b="0" i="1" smtClean="0">
                            <a:solidFill>
                              <a:schemeClr val="tx1"/>
                            </a:solidFill>
                            <a:latin typeface="Cambria Math" panose="02040503050406030204" pitchFamily="18" charset="0"/>
                          </a:rPr>
                          <m:t>𝐹</m:t>
                        </m:r>
                        <m:r>
                          <a:rPr lang="es-ES" sz="2000" b="0" i="1" smtClean="0">
                            <a:solidFill>
                              <a:schemeClr val="tx1"/>
                            </a:solidFill>
                            <a:latin typeface="Cambria Math" panose="02040503050406030204" pitchFamily="18" charset="0"/>
                          </a:rPr>
                          <m:t> −32 °</m:t>
                        </m:r>
                        <m:r>
                          <a:rPr lang="es-ES" sz="2000" b="0" i="1" smtClean="0">
                            <a:solidFill>
                              <a:schemeClr val="tx1"/>
                            </a:solidFill>
                            <a:latin typeface="Cambria Math" panose="02040503050406030204" pitchFamily="18" charset="0"/>
                          </a:rPr>
                          <m:t>𝐹</m:t>
                        </m:r>
                      </m:num>
                      <m:den>
                        <m:r>
                          <a:rPr lang="es-ES" sz="2000" b="0" i="1" smtClean="0">
                            <a:solidFill>
                              <a:schemeClr val="tx1"/>
                            </a:solidFill>
                            <a:latin typeface="Cambria Math" panose="02040503050406030204" pitchFamily="18" charset="0"/>
                          </a:rPr>
                          <m:t>212 </m:t>
                        </m:r>
                        <m:r>
                          <a:rPr lang="es-ES" sz="2000" i="1">
                            <a:solidFill>
                              <a:schemeClr val="tx1"/>
                            </a:solidFill>
                            <a:latin typeface="Cambria Math" panose="02040503050406030204" pitchFamily="18" charset="0"/>
                          </a:rPr>
                          <m:t>°</m:t>
                        </m:r>
                        <m:r>
                          <a:rPr lang="es-ES" sz="2000" b="0" i="1" smtClean="0">
                            <a:solidFill>
                              <a:schemeClr val="tx1"/>
                            </a:solidFill>
                            <a:latin typeface="Cambria Math" panose="02040503050406030204" pitchFamily="18" charset="0"/>
                          </a:rPr>
                          <m:t>𝐹</m:t>
                        </m:r>
                        <m:r>
                          <a:rPr lang="es-ES" sz="2000" b="0" i="1" smtClean="0">
                            <a:solidFill>
                              <a:schemeClr val="tx1"/>
                            </a:solidFill>
                            <a:latin typeface="Cambria Math" panose="02040503050406030204" pitchFamily="18" charset="0"/>
                          </a:rPr>
                          <m:t> −32°</m:t>
                        </m:r>
                        <m:r>
                          <a:rPr lang="es-ES" sz="2000" b="0" i="1" smtClean="0">
                            <a:solidFill>
                              <a:schemeClr val="tx1"/>
                            </a:solidFill>
                            <a:latin typeface="Cambria Math" panose="02040503050406030204" pitchFamily="18" charset="0"/>
                          </a:rPr>
                          <m:t>𝐹</m:t>
                        </m:r>
                      </m:den>
                    </m:f>
                  </m:oMath>
                </a14:m>
                <a:r>
                  <a:rPr lang="es-AR" sz="2000" dirty="0" smtClean="0">
                    <a:solidFill>
                      <a:schemeClr val="tx1"/>
                    </a:solidFill>
                  </a:rPr>
                  <a:t> = </a:t>
                </a:r>
                <a14:m>
                  <m:oMath xmlns:m="http://schemas.openxmlformats.org/officeDocument/2006/math">
                    <m:f>
                      <m:fPr>
                        <m:ctrlPr>
                          <a:rPr lang="es-AR" sz="2000" i="1" smtClean="0">
                            <a:solidFill>
                              <a:schemeClr val="tx1"/>
                            </a:solidFill>
                            <a:latin typeface="Cambria Math" panose="02040503050406030204" pitchFamily="18" charset="0"/>
                          </a:rPr>
                        </m:ctrlPr>
                      </m:fPr>
                      <m:num>
                        <m:r>
                          <a:rPr lang="es-ES" sz="2000" b="0" i="1" smtClean="0">
                            <a:solidFill>
                              <a:schemeClr val="tx1"/>
                            </a:solidFill>
                            <a:latin typeface="Cambria Math" panose="02040503050406030204" pitchFamily="18" charset="0"/>
                          </a:rPr>
                          <m:t>𝑥</m:t>
                        </m:r>
                        <m:r>
                          <a:rPr lang="es-ES" sz="2000" b="0" i="1" smtClean="0">
                            <a:solidFill>
                              <a:schemeClr val="tx1"/>
                            </a:solidFill>
                            <a:latin typeface="Cambria Math" panose="02040503050406030204" pitchFamily="18" charset="0"/>
                          </a:rPr>
                          <m:t> °</m:t>
                        </m:r>
                        <m:r>
                          <a:rPr lang="es-ES" sz="2000" b="0" i="1" smtClean="0">
                            <a:solidFill>
                              <a:schemeClr val="tx1"/>
                            </a:solidFill>
                            <a:latin typeface="Cambria Math" panose="02040503050406030204" pitchFamily="18" charset="0"/>
                          </a:rPr>
                          <m:t>𝐶</m:t>
                        </m:r>
                        <m:r>
                          <a:rPr lang="es-ES" sz="2000" b="0" i="1" smtClean="0">
                            <a:solidFill>
                              <a:schemeClr val="tx1"/>
                            </a:solidFill>
                            <a:latin typeface="Cambria Math" panose="02040503050406030204" pitchFamily="18" charset="0"/>
                          </a:rPr>
                          <m:t> −0°</m:t>
                        </m:r>
                        <m:r>
                          <a:rPr lang="es-ES" sz="2000" b="0" i="1" smtClean="0">
                            <a:solidFill>
                              <a:schemeClr val="tx1"/>
                            </a:solidFill>
                            <a:latin typeface="Cambria Math" panose="02040503050406030204" pitchFamily="18" charset="0"/>
                          </a:rPr>
                          <m:t>𝐶</m:t>
                        </m:r>
                      </m:num>
                      <m:den>
                        <m:r>
                          <a:rPr lang="es-ES" sz="2000" b="0" i="1" smtClean="0">
                            <a:solidFill>
                              <a:schemeClr val="tx1"/>
                            </a:solidFill>
                            <a:latin typeface="Cambria Math" panose="02040503050406030204" pitchFamily="18" charset="0"/>
                          </a:rPr>
                          <m:t>100</m:t>
                        </m:r>
                        <m:r>
                          <a:rPr lang="es-ES" sz="2000" i="1">
                            <a:solidFill>
                              <a:schemeClr val="tx1"/>
                            </a:solidFill>
                            <a:latin typeface="Cambria Math" panose="02040503050406030204" pitchFamily="18" charset="0"/>
                          </a:rPr>
                          <m:t>°</m:t>
                        </m:r>
                        <m:r>
                          <a:rPr lang="es-ES" sz="2000" b="0" i="1" smtClean="0">
                            <a:solidFill>
                              <a:schemeClr val="tx1"/>
                            </a:solidFill>
                            <a:latin typeface="Cambria Math" panose="02040503050406030204" pitchFamily="18" charset="0"/>
                          </a:rPr>
                          <m:t>𝐶</m:t>
                        </m:r>
                        <m:r>
                          <a:rPr lang="es-ES" sz="2000" b="0" i="1" smtClean="0">
                            <a:solidFill>
                              <a:schemeClr val="tx1"/>
                            </a:solidFill>
                            <a:latin typeface="Cambria Math" panose="02040503050406030204" pitchFamily="18" charset="0"/>
                          </a:rPr>
                          <m:t> −0°</m:t>
                        </m:r>
                        <m:r>
                          <a:rPr lang="es-ES" sz="2000" b="0" i="1" smtClean="0">
                            <a:solidFill>
                              <a:schemeClr val="tx1"/>
                            </a:solidFill>
                            <a:latin typeface="Cambria Math" panose="02040503050406030204" pitchFamily="18" charset="0"/>
                          </a:rPr>
                          <m:t>𝐶</m:t>
                        </m:r>
                      </m:den>
                    </m:f>
                  </m:oMath>
                </a14:m>
                <a:endParaRPr lang="es-AR" sz="2000" dirty="0" smtClean="0">
                  <a:solidFill>
                    <a:schemeClr val="tx1"/>
                  </a:solidFill>
                </a:endParaRPr>
              </a:p>
              <a:p>
                <a:endParaRPr lang="es-ES" sz="2000" dirty="0">
                  <a:solidFill>
                    <a:schemeClr val="tx1"/>
                  </a:solidFill>
                </a:endParaRPr>
              </a:p>
              <a:p>
                <a14:m>
                  <m:oMath xmlns:m="http://schemas.openxmlformats.org/officeDocument/2006/math">
                    <m:f>
                      <m:fPr>
                        <m:ctrlPr>
                          <a:rPr lang="es-AR" sz="2000" i="1">
                            <a:solidFill>
                              <a:schemeClr val="tx1"/>
                            </a:solidFill>
                            <a:latin typeface="Cambria Math" panose="02040503050406030204" pitchFamily="18" charset="0"/>
                          </a:rPr>
                        </m:ctrlPr>
                      </m:fPr>
                      <m:num>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r>
                          <a:rPr lang="es-ES" sz="2000" i="1">
                            <a:solidFill>
                              <a:schemeClr val="tx1"/>
                            </a:solidFill>
                            <a:latin typeface="Cambria Math" panose="02040503050406030204" pitchFamily="18" charset="0"/>
                          </a:rPr>
                          <m:t> −32°</m:t>
                        </m:r>
                        <m:r>
                          <a:rPr lang="es-ES" sz="2000" i="1">
                            <a:solidFill>
                              <a:schemeClr val="tx1"/>
                            </a:solidFill>
                            <a:latin typeface="Cambria Math" panose="02040503050406030204" pitchFamily="18" charset="0"/>
                          </a:rPr>
                          <m:t>𝐹</m:t>
                        </m:r>
                      </m:num>
                      <m:den>
                        <m:r>
                          <a:rPr lang="es-ES" sz="2000" b="0" i="1" smtClean="0">
                            <a:solidFill>
                              <a:schemeClr val="tx1"/>
                            </a:solidFill>
                            <a:latin typeface="Cambria Math" panose="02040503050406030204" pitchFamily="18" charset="0"/>
                          </a:rPr>
                          <m:t>180</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den>
                    </m:f>
                  </m:oMath>
                </a14:m>
                <a:r>
                  <a:rPr lang="es-AR" sz="2000" dirty="0">
                    <a:solidFill>
                      <a:schemeClr val="tx1"/>
                    </a:solidFill>
                  </a:rPr>
                  <a:t> = </a:t>
                </a:r>
                <a14:m>
                  <m:oMath xmlns:m="http://schemas.openxmlformats.org/officeDocument/2006/math">
                    <m:f>
                      <m:fPr>
                        <m:ctrlPr>
                          <a:rPr lang="es-AR" sz="2000" i="1">
                            <a:solidFill>
                              <a:schemeClr val="tx1"/>
                            </a:solidFill>
                            <a:latin typeface="Cambria Math" panose="02040503050406030204" pitchFamily="18" charset="0"/>
                          </a:rPr>
                        </m:ctrlPr>
                      </m:fPr>
                      <m:num>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𝐶</m:t>
                        </m:r>
                        <m:r>
                          <a:rPr lang="es-ES" sz="2000" i="1">
                            <a:solidFill>
                              <a:schemeClr val="tx1"/>
                            </a:solidFill>
                            <a:latin typeface="Cambria Math" panose="02040503050406030204" pitchFamily="18" charset="0"/>
                          </a:rPr>
                          <m:t> </m:t>
                        </m:r>
                      </m:num>
                      <m:den>
                        <m:r>
                          <a:rPr lang="es-ES" sz="2000" i="1">
                            <a:solidFill>
                              <a:schemeClr val="tx1"/>
                            </a:solidFill>
                            <a:latin typeface="Cambria Math" panose="02040503050406030204" pitchFamily="18" charset="0"/>
                          </a:rPr>
                          <m:t>100°</m:t>
                        </m:r>
                        <m:r>
                          <a:rPr lang="es-ES" sz="2000" i="1">
                            <a:solidFill>
                              <a:schemeClr val="tx1"/>
                            </a:solidFill>
                            <a:latin typeface="Cambria Math" panose="02040503050406030204" pitchFamily="18" charset="0"/>
                          </a:rPr>
                          <m:t>𝐶</m:t>
                        </m:r>
                        <m:r>
                          <a:rPr lang="es-ES" sz="2000" i="1">
                            <a:solidFill>
                              <a:schemeClr val="tx1"/>
                            </a:solidFill>
                            <a:latin typeface="Cambria Math" panose="02040503050406030204" pitchFamily="18" charset="0"/>
                          </a:rPr>
                          <m:t> </m:t>
                        </m:r>
                      </m:den>
                    </m:f>
                  </m:oMath>
                </a14:m>
                <a:endParaRPr lang="es-AR" sz="2000" dirty="0" smtClean="0">
                  <a:solidFill>
                    <a:schemeClr val="tx1"/>
                  </a:solidFill>
                </a:endParaRPr>
              </a:p>
              <a:p>
                <a:endParaRPr lang="es-ES" sz="2000" dirty="0">
                  <a:solidFill>
                    <a:schemeClr val="tx1"/>
                  </a:solidFill>
                </a:endParaRPr>
              </a:p>
              <a:p>
                <a14:m>
                  <m:oMath xmlns:m="http://schemas.openxmlformats.org/officeDocument/2006/math">
                    <m:f>
                      <m:fPr>
                        <m:ctrlPr>
                          <a:rPr lang="es-AR" sz="2000" i="1">
                            <a:solidFill>
                              <a:schemeClr val="tx1"/>
                            </a:solidFill>
                            <a:latin typeface="Cambria Math" panose="02040503050406030204" pitchFamily="18" charset="0"/>
                          </a:rPr>
                        </m:ctrlPr>
                      </m:fPr>
                      <m:num>
                        <m:r>
                          <a:rPr lang="es-ES" sz="2000" b="0" i="1" smtClean="0">
                            <a:solidFill>
                              <a:schemeClr val="tx1"/>
                            </a:solidFill>
                            <a:latin typeface="Cambria Math" panose="02040503050406030204" pitchFamily="18" charset="0"/>
                          </a:rPr>
                          <m:t>100 </m:t>
                        </m:r>
                        <m:r>
                          <a:rPr lang="es-ES" sz="2000" i="1">
                            <a:solidFill>
                              <a:schemeClr val="tx1"/>
                            </a:solidFill>
                            <a:latin typeface="Cambria Math" panose="02040503050406030204" pitchFamily="18" charset="0"/>
                          </a:rPr>
                          <m:t>°</m:t>
                        </m:r>
                        <m:r>
                          <a:rPr lang="es-ES" sz="2000" b="0" i="1" smtClean="0">
                            <a:solidFill>
                              <a:schemeClr val="tx1"/>
                            </a:solidFill>
                            <a:latin typeface="Cambria Math" panose="02040503050406030204" pitchFamily="18" charset="0"/>
                          </a:rPr>
                          <m:t>𝐶</m:t>
                        </m:r>
                      </m:num>
                      <m:den>
                        <m:r>
                          <a:rPr lang="es-ES" sz="2000" b="0" i="1" smtClean="0">
                            <a:solidFill>
                              <a:schemeClr val="tx1"/>
                            </a:solidFill>
                            <a:latin typeface="Cambria Math" panose="02040503050406030204" pitchFamily="18" charset="0"/>
                          </a:rPr>
                          <m:t>180 </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den>
                    </m:f>
                  </m:oMath>
                </a14:m>
                <a:r>
                  <a:rPr lang="es-AR" sz="2000" dirty="0">
                    <a:solidFill>
                      <a:schemeClr val="tx1"/>
                    </a:solidFill>
                  </a:rPr>
                  <a:t> </a:t>
                </a:r>
                <a:r>
                  <a:rPr lang="es-AR" sz="2000" dirty="0" smtClean="0">
                    <a:solidFill>
                      <a:schemeClr val="tx1"/>
                    </a:solidFill>
                  </a:rPr>
                  <a:t>(</a:t>
                </a:r>
                <a14:m>
                  <m:oMath xmlns:m="http://schemas.openxmlformats.org/officeDocument/2006/math">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r>
                      <a:rPr lang="es-ES" sz="2000" i="1">
                        <a:solidFill>
                          <a:schemeClr val="tx1"/>
                        </a:solidFill>
                        <a:latin typeface="Cambria Math" panose="02040503050406030204" pitchFamily="18" charset="0"/>
                      </a:rPr>
                      <m:t> −32°</m:t>
                    </m:r>
                    <m:r>
                      <a:rPr lang="es-ES" sz="2000" i="1">
                        <a:solidFill>
                          <a:schemeClr val="tx1"/>
                        </a:solidFill>
                        <a:latin typeface="Cambria Math" panose="02040503050406030204" pitchFamily="18" charset="0"/>
                      </a:rPr>
                      <m:t>𝐹</m:t>
                    </m:r>
                    <m:r>
                      <a:rPr lang="es-ES" sz="2000" b="0" i="0" smtClean="0">
                        <a:solidFill>
                          <a:schemeClr val="tx1"/>
                        </a:solidFill>
                        <a:latin typeface="Cambria Math" panose="02040503050406030204" pitchFamily="18" charset="0"/>
                      </a:rPr>
                      <m:t>)</m:t>
                    </m:r>
                  </m:oMath>
                </a14:m>
                <a:r>
                  <a:rPr lang="es-AR" sz="2000" dirty="0">
                    <a:solidFill>
                      <a:schemeClr val="tx1"/>
                    </a:solidFill>
                  </a:rPr>
                  <a:t> </a:t>
                </a:r>
                <a:r>
                  <a:rPr lang="es-AR" sz="2000" dirty="0" smtClean="0">
                    <a:solidFill>
                      <a:schemeClr val="tx1"/>
                    </a:solidFill>
                  </a:rPr>
                  <a:t>= </a:t>
                </a:r>
                <a14:m>
                  <m:oMath xmlns:m="http://schemas.openxmlformats.org/officeDocument/2006/math">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b="0" i="1" smtClean="0">
                        <a:solidFill>
                          <a:schemeClr val="tx1"/>
                        </a:solidFill>
                        <a:latin typeface="Cambria Math" panose="02040503050406030204" pitchFamily="18" charset="0"/>
                      </a:rPr>
                      <m:t>𝐶</m:t>
                    </m:r>
                  </m:oMath>
                </a14:m>
                <a:endParaRPr lang="es-AR" sz="2000" dirty="0" smtClean="0">
                  <a:solidFill>
                    <a:schemeClr val="tx1"/>
                  </a:solidFill>
                </a:endParaRPr>
              </a:p>
              <a:p>
                <a:endParaRPr lang="es-ES" sz="2000" dirty="0">
                  <a:solidFill>
                    <a:schemeClr val="tx1"/>
                  </a:solidFill>
                </a:endParaRPr>
              </a:p>
              <a:p>
                <a14:m>
                  <m:oMath xmlns:m="http://schemas.openxmlformats.org/officeDocument/2006/math">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𝐶</m:t>
                    </m:r>
                  </m:oMath>
                </a14:m>
                <a:r>
                  <a:rPr lang="es-AR" sz="2000" dirty="0" smtClean="0">
                    <a:solidFill>
                      <a:schemeClr val="tx1"/>
                    </a:solidFill>
                  </a:rPr>
                  <a:t> = </a:t>
                </a:r>
                <a14:m>
                  <m:oMath xmlns:m="http://schemas.openxmlformats.org/officeDocument/2006/math">
                    <m:f>
                      <m:fPr>
                        <m:ctrlPr>
                          <a:rPr lang="es-AR" sz="2000" i="1">
                            <a:solidFill>
                              <a:schemeClr val="tx1"/>
                            </a:solidFill>
                            <a:latin typeface="Cambria Math" panose="02040503050406030204" pitchFamily="18" charset="0"/>
                          </a:rPr>
                        </m:ctrlPr>
                      </m:fPr>
                      <m:num>
                        <m:r>
                          <a:rPr lang="es-ES" sz="2000" b="0" i="1" smtClean="0">
                            <a:solidFill>
                              <a:schemeClr val="tx1"/>
                            </a:solidFill>
                            <a:latin typeface="Cambria Math" panose="02040503050406030204" pitchFamily="18" charset="0"/>
                          </a:rPr>
                          <m:t>5</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𝐶</m:t>
                        </m:r>
                      </m:num>
                      <m:den>
                        <m:r>
                          <a:rPr lang="es-ES" sz="2000" b="0" i="1" smtClean="0">
                            <a:solidFill>
                              <a:schemeClr val="tx1"/>
                            </a:solidFill>
                            <a:latin typeface="Cambria Math" panose="02040503050406030204" pitchFamily="18" charset="0"/>
                          </a:rPr>
                          <m:t>9</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den>
                    </m:f>
                  </m:oMath>
                </a14:m>
                <a:r>
                  <a:rPr lang="es-AR" sz="2000" dirty="0">
                    <a:solidFill>
                      <a:schemeClr val="tx1"/>
                    </a:solidFill>
                  </a:rPr>
                  <a:t> (</a:t>
                </a:r>
                <a14:m>
                  <m:oMath xmlns:m="http://schemas.openxmlformats.org/officeDocument/2006/math">
                    <m:r>
                      <a:rPr lang="es-ES" sz="2000" i="1">
                        <a:solidFill>
                          <a:schemeClr val="tx1"/>
                        </a:solidFill>
                        <a:latin typeface="Cambria Math" panose="02040503050406030204" pitchFamily="18" charset="0"/>
                      </a:rPr>
                      <m:t>𝑥</m:t>
                    </m:r>
                    <m:r>
                      <a:rPr lang="es-ES" sz="2000" i="1">
                        <a:solidFill>
                          <a:schemeClr val="tx1"/>
                        </a:solidFill>
                        <a:latin typeface="Cambria Math" panose="02040503050406030204" pitchFamily="18" charset="0"/>
                      </a:rPr>
                      <m:t>°</m:t>
                    </m:r>
                    <m:r>
                      <a:rPr lang="es-ES" sz="2000" i="1">
                        <a:solidFill>
                          <a:schemeClr val="tx1"/>
                        </a:solidFill>
                        <a:latin typeface="Cambria Math" panose="02040503050406030204" pitchFamily="18" charset="0"/>
                      </a:rPr>
                      <m:t>𝐹</m:t>
                    </m:r>
                    <m:r>
                      <a:rPr lang="es-ES" sz="2000" i="1">
                        <a:solidFill>
                          <a:schemeClr val="tx1"/>
                        </a:solidFill>
                        <a:latin typeface="Cambria Math" panose="02040503050406030204" pitchFamily="18" charset="0"/>
                      </a:rPr>
                      <m:t> −32°</m:t>
                    </m:r>
                    <m:r>
                      <a:rPr lang="es-ES" sz="2000" i="1">
                        <a:solidFill>
                          <a:schemeClr val="tx1"/>
                        </a:solidFill>
                        <a:latin typeface="Cambria Math" panose="02040503050406030204" pitchFamily="18" charset="0"/>
                      </a:rPr>
                      <m:t>𝐹</m:t>
                    </m:r>
                    <m:r>
                      <a:rPr lang="es-ES" sz="2000">
                        <a:solidFill>
                          <a:schemeClr val="tx1"/>
                        </a:solidFill>
                        <a:latin typeface="Cambria Math" panose="02040503050406030204" pitchFamily="18" charset="0"/>
                      </a:rPr>
                      <m:t>)</m:t>
                    </m:r>
                  </m:oMath>
                </a14:m>
                <a:endParaRPr lang="es-AR" sz="2000" dirty="0">
                  <a:solidFill>
                    <a:schemeClr val="tx1"/>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488894" y="1912057"/>
                <a:ext cx="6179942" cy="4625221"/>
              </a:xfrm>
              <a:blipFill>
                <a:blip r:embed="rId2"/>
                <a:stretch>
                  <a:fillRect/>
                </a:stretch>
              </a:blipFill>
            </p:spPr>
            <p:txBody>
              <a:bodyPr/>
              <a:lstStyle/>
              <a:p>
                <a:r>
                  <a:rPr lang="es-AR">
                    <a:noFill/>
                  </a:rPr>
                  <a:t> </a:t>
                </a:r>
              </a:p>
            </p:txBody>
          </p:sp>
        </mc:Fallback>
      </mc:AlternateContent>
      <p:pic>
        <p:nvPicPr>
          <p:cNvPr id="5" name="Imagen 4"/>
          <p:cNvPicPr>
            <a:picLocks noChangeAspect="1"/>
          </p:cNvPicPr>
          <p:nvPr/>
        </p:nvPicPr>
        <p:blipFill>
          <a:blip r:embed="rId3"/>
          <a:stretch>
            <a:fillRect/>
          </a:stretch>
        </p:blipFill>
        <p:spPr>
          <a:xfrm>
            <a:off x="2498755" y="2136659"/>
            <a:ext cx="2714520" cy="3927664"/>
          </a:xfrm>
          <a:prstGeom prst="rect">
            <a:avLst/>
          </a:prstGeom>
        </p:spPr>
      </p:pic>
    </p:spTree>
    <p:extLst>
      <p:ext uri="{BB962C8B-B14F-4D97-AF65-F5344CB8AC3E}">
        <p14:creationId xmlns:p14="http://schemas.microsoft.com/office/powerpoint/2010/main" val="140768895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491319"/>
            <a:ext cx="8915399" cy="900752"/>
          </a:xfrm>
        </p:spPr>
        <p:txBody>
          <a:bodyPr>
            <a:normAutofit/>
          </a:bodyPr>
          <a:lstStyle/>
          <a:p>
            <a:r>
              <a:rPr lang="es-ES" sz="4000" dirty="0" smtClean="0"/>
              <a:t>Escalas termométricas</a:t>
            </a:r>
            <a:endParaRPr lang="es-AR" sz="4000" dirty="0"/>
          </a:p>
        </p:txBody>
      </p:sp>
      <p:pic>
        <p:nvPicPr>
          <p:cNvPr id="4" name="Imagen 3"/>
          <p:cNvPicPr>
            <a:picLocks noChangeAspect="1"/>
          </p:cNvPicPr>
          <p:nvPr/>
        </p:nvPicPr>
        <p:blipFill>
          <a:blip r:embed="rId2"/>
          <a:stretch>
            <a:fillRect/>
          </a:stretch>
        </p:blipFill>
        <p:spPr>
          <a:xfrm>
            <a:off x="2589213" y="1861336"/>
            <a:ext cx="8808470" cy="4034497"/>
          </a:xfrm>
          <a:prstGeom prst="rect">
            <a:avLst/>
          </a:prstGeom>
        </p:spPr>
      </p:pic>
    </p:spTree>
    <p:extLst>
      <p:ext uri="{BB962C8B-B14F-4D97-AF65-F5344CB8AC3E}">
        <p14:creationId xmlns:p14="http://schemas.microsoft.com/office/powerpoint/2010/main" val="134852134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370849" y="641445"/>
            <a:ext cx="8915399" cy="764276"/>
          </a:xfrm>
        </p:spPr>
        <p:txBody>
          <a:bodyPr>
            <a:normAutofit fontScale="90000"/>
          </a:bodyPr>
          <a:lstStyle/>
          <a:p>
            <a:r>
              <a:rPr lang="es-AR" sz="4000" dirty="0" smtClean="0">
                <a:latin typeface="Arial" panose="020B0604020202020204" pitchFamily="34" charset="0"/>
                <a:cs typeface="Arial" panose="020B0604020202020204" pitchFamily="34" charset="0"/>
              </a:rPr>
              <a:t>Dilatación </a:t>
            </a:r>
            <a:r>
              <a:rPr lang="es-AR" sz="4000" dirty="0">
                <a:latin typeface="Arial" panose="020B0604020202020204" pitchFamily="34" charset="0"/>
                <a:cs typeface="Arial" panose="020B0604020202020204" pitchFamily="34" charset="0"/>
              </a:rPr>
              <a:t>térmica de sólidos y líquidos </a:t>
            </a:r>
          </a:p>
        </p:txBody>
      </p:sp>
      <p:sp>
        <p:nvSpPr>
          <p:cNvPr id="3" name="Subtítulo 2"/>
          <p:cNvSpPr>
            <a:spLocks noGrp="1"/>
          </p:cNvSpPr>
          <p:nvPr>
            <p:ph type="subTitle" idx="1"/>
          </p:nvPr>
        </p:nvSpPr>
        <p:spPr>
          <a:xfrm>
            <a:off x="2370849" y="1747576"/>
            <a:ext cx="8915399" cy="1800842"/>
          </a:xfrm>
        </p:spPr>
        <p:txBody>
          <a:bodyPr>
            <a:normAutofit/>
          </a:bodyPr>
          <a:lstStyle/>
          <a:p>
            <a:pPr marL="285750" indent="-285750">
              <a:buFont typeface="Arial" panose="020B0604020202020204" pitchFamily="34" charset="0"/>
              <a:buChar char="•"/>
            </a:pPr>
            <a:r>
              <a:rPr lang="es-ES" sz="2000" dirty="0" smtClean="0">
                <a:solidFill>
                  <a:schemeClr val="tx1"/>
                </a:solidFill>
                <a:latin typeface="Arial" panose="020B0604020202020204" pitchFamily="34" charset="0"/>
                <a:cs typeface="Arial" panose="020B0604020202020204" pitchFamily="34" charset="0"/>
              </a:rPr>
              <a:t>“… cuando se aumenta la temperatura de un cuerpo, éste se dilata…”</a:t>
            </a:r>
          </a:p>
          <a:p>
            <a:pPr marL="285750" indent="-285750">
              <a:buFont typeface="Arial" panose="020B0604020202020204" pitchFamily="34" charset="0"/>
              <a:buChar char="•"/>
            </a:pPr>
            <a:r>
              <a:rPr lang="es-ES" sz="2000" dirty="0" smtClean="0">
                <a:solidFill>
                  <a:schemeClr val="tx1"/>
                </a:solidFill>
                <a:latin typeface="Arial" panose="020B0604020202020204" pitchFamily="34" charset="0"/>
                <a:cs typeface="Arial" panose="020B0604020202020204" pitchFamily="34" charset="0"/>
              </a:rPr>
              <a:t>“… consideramos una varilla de longitud </a:t>
            </a:r>
            <a:r>
              <a:rPr lang="es-ES" sz="2000" b="1" i="1" dirty="0" smtClean="0">
                <a:solidFill>
                  <a:schemeClr val="tx1"/>
                </a:solidFill>
                <a:latin typeface="Times New Roman" panose="02020603050405020304" pitchFamily="18" charset="0"/>
                <a:cs typeface="Times New Roman" panose="02020603050405020304" pitchFamily="18" charset="0"/>
              </a:rPr>
              <a:t>L</a:t>
            </a:r>
            <a:r>
              <a:rPr lang="es-ES" sz="2000" dirty="0" smtClean="0">
                <a:solidFill>
                  <a:schemeClr val="tx1"/>
                </a:solidFill>
                <a:latin typeface="Arial" panose="020B0604020202020204" pitchFamily="34" charset="0"/>
                <a:cs typeface="Arial" panose="020B0604020202020204" pitchFamily="34" charset="0"/>
              </a:rPr>
              <a:t> y temperatura </a:t>
            </a:r>
            <a:r>
              <a:rPr lang="es-ES" sz="2000" b="1" i="1" dirty="0" smtClean="0">
                <a:solidFill>
                  <a:schemeClr val="tx1"/>
                </a:solidFill>
                <a:latin typeface="Times New Roman" panose="02020603050405020304" pitchFamily="18" charset="0"/>
                <a:cs typeface="Times New Roman" panose="02020603050405020304" pitchFamily="18" charset="0"/>
              </a:rPr>
              <a:t>T</a:t>
            </a:r>
            <a:r>
              <a:rPr lang="es-ES" sz="2000" dirty="0" smtClean="0">
                <a:solidFill>
                  <a:schemeClr val="tx1"/>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s-ES" sz="2000" dirty="0" smtClean="0">
                <a:solidFill>
                  <a:schemeClr val="tx1"/>
                </a:solidFill>
                <a:latin typeface="Arial" panose="020B0604020202020204" pitchFamily="34" charset="0"/>
                <a:cs typeface="Arial" panose="020B0604020202020204" pitchFamily="34" charset="0"/>
              </a:rPr>
              <a:t>“ el cambio de longitud de la varilla es proporcional a la variación de la temperatura…”</a:t>
            </a:r>
          </a:p>
          <a:p>
            <a:pPr marL="285750" indent="-285750">
              <a:buFont typeface="Arial" panose="020B0604020202020204" pitchFamily="34" charset="0"/>
              <a:buChar char="•"/>
            </a:pPr>
            <a:endParaRPr lang="es-ES" sz="20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sz="2000" dirty="0">
              <a:solidFill>
                <a:schemeClr val="tx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153631" y="3394282"/>
            <a:ext cx="1981477" cy="523948"/>
          </a:xfrm>
          <a:prstGeom prst="rect">
            <a:avLst/>
          </a:prstGeom>
        </p:spPr>
      </p:pic>
      <p:pic>
        <p:nvPicPr>
          <p:cNvPr id="5" name="Imagen 4"/>
          <p:cNvPicPr>
            <a:picLocks noChangeAspect="1"/>
          </p:cNvPicPr>
          <p:nvPr/>
        </p:nvPicPr>
        <p:blipFill>
          <a:blip r:embed="rId3"/>
          <a:stretch>
            <a:fillRect/>
          </a:stretch>
        </p:blipFill>
        <p:spPr>
          <a:xfrm>
            <a:off x="3153631" y="4099372"/>
            <a:ext cx="1552792" cy="847843"/>
          </a:xfrm>
          <a:prstGeom prst="rect">
            <a:avLst/>
          </a:prstGeom>
        </p:spPr>
      </p:pic>
      <p:pic>
        <p:nvPicPr>
          <p:cNvPr id="6" name="Imagen 5"/>
          <p:cNvPicPr>
            <a:picLocks noChangeAspect="1"/>
          </p:cNvPicPr>
          <p:nvPr/>
        </p:nvPicPr>
        <p:blipFill>
          <a:blip r:embed="rId4"/>
          <a:stretch>
            <a:fillRect/>
          </a:stretch>
        </p:blipFill>
        <p:spPr>
          <a:xfrm>
            <a:off x="3153631" y="4947215"/>
            <a:ext cx="2981741" cy="628738"/>
          </a:xfrm>
          <a:prstGeom prst="rect">
            <a:avLst/>
          </a:prstGeom>
        </p:spPr>
      </p:pic>
      <p:pic>
        <p:nvPicPr>
          <p:cNvPr id="7" name="Imagen 6"/>
          <p:cNvPicPr>
            <a:picLocks noChangeAspect="1"/>
          </p:cNvPicPr>
          <p:nvPr/>
        </p:nvPicPr>
        <p:blipFill>
          <a:blip r:embed="rId5"/>
          <a:stretch>
            <a:fillRect/>
          </a:stretch>
        </p:blipFill>
        <p:spPr>
          <a:xfrm>
            <a:off x="3153631" y="5760846"/>
            <a:ext cx="1800476" cy="609685"/>
          </a:xfrm>
          <a:prstGeom prst="rect">
            <a:avLst/>
          </a:prstGeom>
        </p:spPr>
      </p:pic>
      <p:pic>
        <p:nvPicPr>
          <p:cNvPr id="10" name="Imagen 9"/>
          <p:cNvPicPr>
            <a:picLocks noChangeAspect="1"/>
          </p:cNvPicPr>
          <p:nvPr/>
        </p:nvPicPr>
        <p:blipFill>
          <a:blip r:embed="rId6"/>
          <a:stretch>
            <a:fillRect/>
          </a:stretch>
        </p:blipFill>
        <p:spPr>
          <a:xfrm>
            <a:off x="7469482" y="4573578"/>
            <a:ext cx="3163509" cy="629268"/>
          </a:xfrm>
          <a:prstGeom prst="rect">
            <a:avLst/>
          </a:prstGeom>
        </p:spPr>
      </p:pic>
      <p:pic>
        <p:nvPicPr>
          <p:cNvPr id="12" name="Imagen 11"/>
          <p:cNvPicPr>
            <a:picLocks noChangeAspect="1"/>
          </p:cNvPicPr>
          <p:nvPr/>
        </p:nvPicPr>
        <p:blipFill>
          <a:blip r:embed="rId7"/>
          <a:stretch>
            <a:fillRect/>
          </a:stretch>
        </p:blipFill>
        <p:spPr>
          <a:xfrm>
            <a:off x="7308480" y="3462223"/>
            <a:ext cx="3324511" cy="923925"/>
          </a:xfrm>
          <a:prstGeom prst="rect">
            <a:avLst/>
          </a:prstGeom>
        </p:spPr>
      </p:pic>
      <p:pic>
        <p:nvPicPr>
          <p:cNvPr id="11" name="Imagen 10"/>
          <p:cNvPicPr>
            <a:picLocks noChangeAspect="1"/>
          </p:cNvPicPr>
          <p:nvPr/>
        </p:nvPicPr>
        <p:blipFill>
          <a:blip r:embed="rId8"/>
          <a:stretch>
            <a:fillRect/>
          </a:stretch>
        </p:blipFill>
        <p:spPr>
          <a:xfrm>
            <a:off x="7308480" y="3489325"/>
            <a:ext cx="3746207" cy="771091"/>
          </a:xfrm>
          <a:prstGeom prst="rect">
            <a:avLst/>
          </a:prstGeom>
        </p:spPr>
      </p:pic>
    </p:spTree>
    <p:extLst>
      <p:ext uri="{BB962C8B-B14F-4D97-AF65-F5344CB8AC3E}">
        <p14:creationId xmlns:p14="http://schemas.microsoft.com/office/powerpoint/2010/main" val="15794887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4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2000"/>
                                        <p:tgtEl>
                                          <p:spTgt spid="10"/>
                                        </p:tgtEl>
                                      </p:cBhvr>
                                    </p:animEffect>
                                  </p:childTnLst>
                                </p:cTn>
                              </p:par>
                            </p:childTnLst>
                          </p:cTn>
                        </p:par>
                        <p:par>
                          <p:cTn id="28" fill="hold">
                            <p:stCondLst>
                              <p:cond delay="2000"/>
                            </p:stCondLst>
                            <p:childTnLst>
                              <p:par>
                                <p:cTn id="29" presetID="22" presetClass="exit" presetSubtype="4" fill="hold" nodeType="afterEffect">
                                  <p:stCondLst>
                                    <p:cond delay="0"/>
                                  </p:stCondLst>
                                  <p:childTnLst>
                                    <p:animEffect transition="out" filter="wipe(down)">
                                      <p:cBhvr>
                                        <p:cTn id="30" dur="2000"/>
                                        <p:tgtEl>
                                          <p:spTgt spid="10"/>
                                        </p:tgtEl>
                                      </p:cBhvr>
                                    </p:animEffect>
                                    <p:set>
                                      <p:cBhvr>
                                        <p:cTn id="31" dur="1" fill="hold">
                                          <p:stCondLst>
                                            <p:cond delay="1999"/>
                                          </p:stCondLst>
                                        </p:cTn>
                                        <p:tgtEl>
                                          <p:spTgt spid="10"/>
                                        </p:tgtEl>
                                        <p:attrNameLst>
                                          <p:attrName>style.visibility</p:attrName>
                                        </p:attrNameLst>
                                      </p:cBhvr>
                                      <p:to>
                                        <p:strVal val="hidden"/>
                                      </p:to>
                                    </p:set>
                                  </p:childTnLst>
                                </p:cTn>
                              </p:par>
                            </p:childTnLst>
                          </p:cTn>
                        </p:par>
                        <p:par>
                          <p:cTn id="32" fill="hold">
                            <p:stCondLst>
                              <p:cond delay="4000"/>
                            </p:stCondLst>
                            <p:childTnLst>
                              <p:par>
                                <p:cTn id="33" presetID="22" presetClass="entr" presetSubtype="4"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2000"/>
                                        <p:tgtEl>
                                          <p:spTgt spid="10"/>
                                        </p:tgtEl>
                                      </p:cBhvr>
                                    </p:animEffect>
                                  </p:childTnLst>
                                </p:cTn>
                              </p:par>
                            </p:childTnLst>
                          </p:cTn>
                        </p:par>
                        <p:par>
                          <p:cTn id="36" fill="hold">
                            <p:stCondLst>
                              <p:cond delay="6000"/>
                            </p:stCondLst>
                            <p:childTnLst>
                              <p:par>
                                <p:cTn id="37" presetID="22" presetClass="exit" presetSubtype="4" fill="hold" nodeType="afterEffect">
                                  <p:stCondLst>
                                    <p:cond delay="0"/>
                                  </p:stCondLst>
                                  <p:childTnLst>
                                    <p:animEffect transition="out" filter="wipe(down)">
                                      <p:cBhvr>
                                        <p:cTn id="38" dur="2000"/>
                                        <p:tgtEl>
                                          <p:spTgt spid="10"/>
                                        </p:tgtEl>
                                      </p:cBhvr>
                                    </p:animEffect>
                                    <p:set>
                                      <p:cBhvr>
                                        <p:cTn id="39" dur="1" fill="hold">
                                          <p:stCondLst>
                                            <p:cond delay="1999"/>
                                          </p:stCondLst>
                                        </p:cTn>
                                        <p:tgtEl>
                                          <p:spTgt spid="10"/>
                                        </p:tgtEl>
                                        <p:attrNameLst>
                                          <p:attrName>style.visibility</p:attrName>
                                        </p:attrNameLst>
                                      </p:cBhvr>
                                      <p:to>
                                        <p:strVal val="hidden"/>
                                      </p:to>
                                    </p:set>
                                  </p:childTnLst>
                                </p:cTn>
                              </p:par>
                            </p:childTnLst>
                          </p:cTn>
                        </p:par>
                        <p:par>
                          <p:cTn id="40" fill="hold">
                            <p:stCondLst>
                              <p:cond delay="8000"/>
                            </p:stCondLst>
                            <p:childTnLst>
                              <p:par>
                                <p:cTn id="41" presetID="22" presetClass="entr" presetSubtype="8"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2000"/>
                                        <p:tgtEl>
                                          <p:spTgt spid="11"/>
                                        </p:tgtEl>
                                      </p:cBhvr>
                                    </p:animEffect>
                                  </p:childTnLst>
                                </p:cTn>
                              </p:par>
                              <p:par>
                                <p:cTn id="44" presetID="10" presetClass="entr" presetSubtype="0" fill="hold"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75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300287" y="1682953"/>
            <a:ext cx="8894478" cy="4582277"/>
          </a:xfrm>
          <a:prstGeom prst="rect">
            <a:avLst/>
          </a:prstGeom>
        </p:spPr>
      </p:pic>
      <p:sp>
        <p:nvSpPr>
          <p:cNvPr id="3" name="Título 1"/>
          <p:cNvSpPr>
            <a:spLocks noGrp="1"/>
          </p:cNvSpPr>
          <p:nvPr>
            <p:ph type="ctrTitle"/>
          </p:nvPr>
        </p:nvSpPr>
        <p:spPr>
          <a:xfrm>
            <a:off x="2493679" y="441420"/>
            <a:ext cx="8915399" cy="764276"/>
          </a:xfrm>
        </p:spPr>
        <p:txBody>
          <a:bodyPr>
            <a:normAutofit fontScale="90000"/>
          </a:bodyPr>
          <a:lstStyle/>
          <a:p>
            <a:r>
              <a:rPr lang="es-AR" sz="4000" dirty="0" smtClean="0">
                <a:latin typeface="Arial" panose="020B0604020202020204" pitchFamily="34" charset="0"/>
                <a:cs typeface="Arial" panose="020B0604020202020204" pitchFamily="34" charset="0"/>
              </a:rPr>
              <a:t>Dilatación </a:t>
            </a:r>
            <a:r>
              <a:rPr lang="es-AR" sz="4000" dirty="0">
                <a:latin typeface="Arial" panose="020B0604020202020204" pitchFamily="34" charset="0"/>
                <a:cs typeface="Arial" panose="020B0604020202020204" pitchFamily="34" charset="0"/>
              </a:rPr>
              <a:t>térmica de sólidos y líquidos </a:t>
            </a:r>
          </a:p>
        </p:txBody>
      </p:sp>
    </p:spTree>
    <p:extLst>
      <p:ext uri="{BB962C8B-B14F-4D97-AF65-F5344CB8AC3E}">
        <p14:creationId xmlns:p14="http://schemas.microsoft.com/office/powerpoint/2010/main" val="210060247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92925" y="624110"/>
            <a:ext cx="8911687" cy="690340"/>
          </a:xfrm>
        </p:spPr>
        <p:txBody>
          <a:bodyPr>
            <a:noAutofit/>
          </a:bodyPr>
          <a:lstStyle/>
          <a:p>
            <a:r>
              <a:rPr lang="es-ES" sz="4000" dirty="0" smtClean="0"/>
              <a:t>Dilatación Térmica</a:t>
            </a:r>
            <a:endParaRPr lang="es-AR" sz="4000" dirty="0"/>
          </a:p>
        </p:txBody>
      </p:sp>
      <p:sp>
        <p:nvSpPr>
          <p:cNvPr id="3" name="Marcador de contenido 2"/>
          <p:cNvSpPr>
            <a:spLocks noGrp="1"/>
          </p:cNvSpPr>
          <p:nvPr>
            <p:ph idx="1"/>
          </p:nvPr>
        </p:nvSpPr>
        <p:spPr>
          <a:xfrm>
            <a:off x="2589212" y="1514475"/>
            <a:ext cx="8915400" cy="4657725"/>
          </a:xfrm>
        </p:spPr>
        <p:txBody>
          <a:bodyPr/>
          <a:lstStyle/>
          <a:p>
            <a:r>
              <a:rPr lang="es-ES" dirty="0" smtClean="0"/>
              <a:t>Ejemplo 1:</a:t>
            </a:r>
          </a:p>
          <a:p>
            <a:r>
              <a:rPr lang="es-AR" dirty="0"/>
              <a:t>Un segmento de vía de ferrocarril de acero tiene una longitud de </a:t>
            </a:r>
            <a:r>
              <a:rPr lang="es-AR" dirty="0" smtClean="0"/>
              <a:t>30 </a:t>
            </a:r>
            <a:r>
              <a:rPr lang="es-AR" dirty="0"/>
              <a:t>m cuando la temperatura es de 0.0°C.</a:t>
            </a:r>
          </a:p>
          <a:p>
            <a:pPr>
              <a:buAutoNum type="alphaUcParenR"/>
            </a:pPr>
            <a:r>
              <a:rPr lang="es-AR" dirty="0" smtClean="0"/>
              <a:t>¿</a:t>
            </a:r>
            <a:r>
              <a:rPr lang="es-AR" dirty="0"/>
              <a:t>Cuál es su longitud cuando la temperatura es de 40.0°C</a:t>
            </a:r>
            <a:r>
              <a:rPr lang="es-AR" dirty="0" smtClean="0"/>
              <a:t>?</a:t>
            </a:r>
          </a:p>
          <a:p>
            <a:pPr>
              <a:buAutoNum type="alphaUcParenR"/>
            </a:pPr>
            <a:r>
              <a:rPr lang="es-AR" dirty="0" smtClean="0"/>
              <a:t>¿ Suponga </a:t>
            </a:r>
            <a:r>
              <a:rPr lang="es-AR" dirty="0"/>
              <a:t>que los extremos de la vía están rígidamente sujetos a 0.0°C de modo que se evita la expansión. ¿Cuál es el esfuerzo térmico que se establece en la vía si su temperatura se eleva a 40.0°C?</a:t>
            </a:r>
          </a:p>
          <a:p>
            <a:pPr>
              <a:buAutoNum type="alphaUcParenR"/>
            </a:pPr>
            <a:endParaRPr lang="es-AR" dirty="0"/>
          </a:p>
          <a:p>
            <a:r>
              <a:rPr lang="es-ES" dirty="0" smtClean="0"/>
              <a:t>A) </a:t>
            </a:r>
            <a:endParaRPr lang="es-AR" dirty="0"/>
          </a:p>
        </p:txBody>
      </p:sp>
      <p:pic>
        <p:nvPicPr>
          <p:cNvPr id="4" name="Imagen 3"/>
          <p:cNvPicPr>
            <a:picLocks noChangeAspect="1"/>
          </p:cNvPicPr>
          <p:nvPr/>
        </p:nvPicPr>
        <p:blipFill>
          <a:blip r:embed="rId2"/>
          <a:stretch>
            <a:fillRect/>
          </a:stretch>
        </p:blipFill>
        <p:spPr>
          <a:xfrm>
            <a:off x="3452375" y="4319556"/>
            <a:ext cx="7523273" cy="538194"/>
          </a:xfrm>
          <a:prstGeom prst="rect">
            <a:avLst/>
          </a:prstGeom>
        </p:spPr>
      </p:pic>
      <p:pic>
        <p:nvPicPr>
          <p:cNvPr id="5" name="Imagen 4"/>
          <p:cNvPicPr>
            <a:picLocks noChangeAspect="1"/>
          </p:cNvPicPr>
          <p:nvPr/>
        </p:nvPicPr>
        <p:blipFill>
          <a:blip r:embed="rId3"/>
          <a:stretch>
            <a:fillRect/>
          </a:stretch>
        </p:blipFill>
        <p:spPr>
          <a:xfrm>
            <a:off x="3452375" y="5057775"/>
            <a:ext cx="5052062" cy="557213"/>
          </a:xfrm>
          <a:prstGeom prst="rect">
            <a:avLst/>
          </a:prstGeom>
        </p:spPr>
      </p:pic>
    </p:spTree>
    <p:extLst>
      <p:ext uri="{BB962C8B-B14F-4D97-AF65-F5344CB8AC3E}">
        <p14:creationId xmlns:p14="http://schemas.microsoft.com/office/powerpoint/2010/main" val="407980536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92925" y="624110"/>
            <a:ext cx="8911687" cy="690340"/>
          </a:xfrm>
        </p:spPr>
        <p:txBody>
          <a:bodyPr/>
          <a:lstStyle/>
          <a:p>
            <a:r>
              <a:rPr lang="es-ES" dirty="0"/>
              <a:t>Dilatación Térmica</a:t>
            </a:r>
            <a:endParaRPr lang="es-AR" dirty="0"/>
          </a:p>
        </p:txBody>
      </p:sp>
      <p:sp>
        <p:nvSpPr>
          <p:cNvPr id="3" name="Marcador de contenido 2"/>
          <p:cNvSpPr>
            <a:spLocks noGrp="1"/>
          </p:cNvSpPr>
          <p:nvPr>
            <p:ph idx="1"/>
          </p:nvPr>
        </p:nvSpPr>
        <p:spPr/>
        <p:txBody>
          <a:bodyPr/>
          <a:lstStyle/>
          <a:p>
            <a:r>
              <a:rPr lang="es-ES" dirty="0" smtClean="0"/>
              <a:t>B) </a:t>
            </a:r>
            <a:endParaRPr lang="es-AR" dirty="0"/>
          </a:p>
        </p:txBody>
      </p:sp>
      <p:pic>
        <p:nvPicPr>
          <p:cNvPr id="4" name="Imagen 3"/>
          <p:cNvPicPr>
            <a:picLocks noChangeAspect="1"/>
          </p:cNvPicPr>
          <p:nvPr/>
        </p:nvPicPr>
        <p:blipFill>
          <a:blip r:embed="rId2"/>
          <a:stretch>
            <a:fillRect/>
          </a:stretch>
        </p:blipFill>
        <p:spPr>
          <a:xfrm>
            <a:off x="3571640" y="1952578"/>
            <a:ext cx="4347245" cy="862060"/>
          </a:xfrm>
          <a:prstGeom prst="rect">
            <a:avLst/>
          </a:prstGeom>
        </p:spPr>
      </p:pic>
      <p:pic>
        <p:nvPicPr>
          <p:cNvPr id="5" name="Imagen 4"/>
          <p:cNvPicPr>
            <a:picLocks noChangeAspect="1"/>
          </p:cNvPicPr>
          <p:nvPr/>
        </p:nvPicPr>
        <p:blipFill>
          <a:blip r:embed="rId3"/>
          <a:stretch>
            <a:fillRect/>
          </a:stretch>
        </p:blipFill>
        <p:spPr>
          <a:xfrm>
            <a:off x="3314312" y="3071762"/>
            <a:ext cx="6786762" cy="871588"/>
          </a:xfrm>
          <a:prstGeom prst="rect">
            <a:avLst/>
          </a:prstGeom>
        </p:spPr>
      </p:pic>
    </p:spTree>
    <p:extLst>
      <p:ext uri="{BB962C8B-B14F-4D97-AF65-F5344CB8AC3E}">
        <p14:creationId xmlns:p14="http://schemas.microsoft.com/office/powerpoint/2010/main" val="322106570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1" y="507286"/>
            <a:ext cx="8915399" cy="738963"/>
          </a:xfrm>
        </p:spPr>
        <p:txBody>
          <a:bodyPr>
            <a:normAutofit/>
          </a:bodyPr>
          <a:lstStyle/>
          <a:p>
            <a:r>
              <a:rPr lang="es-ES" sz="4000" dirty="0" smtClean="0"/>
              <a:t>Calor – Calorimetría </a:t>
            </a:r>
            <a:r>
              <a:rPr lang="es-ES" sz="1200" dirty="0" smtClean="0"/>
              <a:t>(554)</a:t>
            </a:r>
            <a:endParaRPr lang="es-AR" sz="4000" dirty="0"/>
          </a:p>
        </p:txBody>
      </p:sp>
      <p:sp>
        <p:nvSpPr>
          <p:cNvPr id="3" name="Subtítulo 2"/>
          <p:cNvSpPr>
            <a:spLocks noGrp="1"/>
          </p:cNvSpPr>
          <p:nvPr>
            <p:ph type="subTitle" idx="1"/>
          </p:nvPr>
        </p:nvSpPr>
        <p:spPr>
          <a:xfrm>
            <a:off x="2701507" y="1537806"/>
            <a:ext cx="8915399" cy="5103625"/>
          </a:xfrm>
        </p:spPr>
        <p:txBody>
          <a:bodyPr>
            <a:normAutofit/>
          </a:bodyPr>
          <a:lstStyle/>
          <a:p>
            <a:pPr marL="285750" indent="-285750" algn="just">
              <a:buFont typeface="Wingdings" panose="05000000000000000000" pitchFamily="2" charset="2"/>
              <a:buChar char="§"/>
            </a:pPr>
            <a:r>
              <a:rPr lang="es-ES" sz="2000" dirty="0" smtClean="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 </a:t>
            </a:r>
            <a:r>
              <a:rPr lang="es-AR" sz="2000" dirty="0" smtClean="0">
                <a:solidFill>
                  <a:schemeClr val="tx1"/>
                </a:solidFill>
                <a:latin typeface="Arial" panose="020B0604020202020204" pitchFamily="34" charset="0"/>
                <a:cs typeface="Arial" panose="020B0604020202020204" pitchFamily="34" charset="0"/>
              </a:rPr>
              <a:t>la </a:t>
            </a:r>
            <a:r>
              <a:rPr lang="es-AR" sz="2000" dirty="0">
                <a:solidFill>
                  <a:schemeClr val="tx1"/>
                </a:solidFill>
                <a:latin typeface="Arial" panose="020B0604020202020204" pitchFamily="34" charset="0"/>
                <a:cs typeface="Arial" panose="020B0604020202020204" pitchFamily="34" charset="0"/>
              </a:rPr>
              <a:t>energía interna es toda la energía de un sistema que se asocia con sus componentes microscópicos, átomos y moléculas, cuando se ve desde un marco de referencia en reposo respecto del centro de masa del </a:t>
            </a:r>
            <a:r>
              <a:rPr lang="es-AR" sz="2000" dirty="0" smtClean="0">
                <a:solidFill>
                  <a:schemeClr val="tx1"/>
                </a:solidFill>
                <a:latin typeface="Arial" panose="020B0604020202020204" pitchFamily="34" charset="0"/>
                <a:cs typeface="Arial" panose="020B0604020202020204" pitchFamily="34" charset="0"/>
              </a:rPr>
              <a:t>sistema…”</a:t>
            </a:r>
          </a:p>
          <a:p>
            <a:pPr marL="285750" indent="-285750" algn="just">
              <a:buFont typeface="Wingdings" panose="05000000000000000000" pitchFamily="2" charset="2"/>
              <a:buChar char="§"/>
            </a:pPr>
            <a:r>
              <a:rPr lang="es-AR" sz="2000" dirty="0" smtClean="0">
                <a:solidFill>
                  <a:schemeClr val="tx1"/>
                </a:solidFill>
                <a:latin typeface="Arial" panose="020B0604020202020204" pitchFamily="34" charset="0"/>
                <a:cs typeface="Arial" panose="020B0604020202020204" pitchFamily="34" charset="0"/>
              </a:rPr>
              <a:t>“…el </a:t>
            </a:r>
            <a:r>
              <a:rPr lang="es-AR" sz="2000" dirty="0">
                <a:solidFill>
                  <a:schemeClr val="tx1"/>
                </a:solidFill>
                <a:latin typeface="Arial" panose="020B0604020202020204" pitchFamily="34" charset="0"/>
                <a:cs typeface="Arial" panose="020B0604020202020204" pitchFamily="34" charset="0"/>
              </a:rPr>
              <a:t>calor es la transferencia de energía a través de la frontera de un sistema </a:t>
            </a:r>
            <a:r>
              <a:rPr lang="es-AR" sz="2000" dirty="0" smtClean="0">
                <a:solidFill>
                  <a:schemeClr val="tx1"/>
                </a:solidFill>
                <a:latin typeface="Arial" panose="020B0604020202020204" pitchFamily="34" charset="0"/>
                <a:cs typeface="Arial" panose="020B0604020202020204" pitchFamily="34" charset="0"/>
              </a:rPr>
              <a:t>debido </a:t>
            </a:r>
            <a:r>
              <a:rPr lang="es-AR" sz="2000" dirty="0">
                <a:solidFill>
                  <a:schemeClr val="tx1"/>
                </a:solidFill>
                <a:latin typeface="Arial" panose="020B0604020202020204" pitchFamily="34" charset="0"/>
                <a:cs typeface="Arial" panose="020B0604020202020204" pitchFamily="34" charset="0"/>
              </a:rPr>
              <a:t>a una diferencia de temperatura entre el sistema y sus </a:t>
            </a:r>
            <a:r>
              <a:rPr lang="es-AR" sz="2000" dirty="0" smtClean="0">
                <a:solidFill>
                  <a:schemeClr val="tx1"/>
                </a:solidFill>
                <a:latin typeface="Arial" panose="020B0604020202020204" pitchFamily="34" charset="0"/>
                <a:cs typeface="Arial" panose="020B0604020202020204" pitchFamily="34" charset="0"/>
              </a:rPr>
              <a:t>alrededores…”</a:t>
            </a:r>
          </a:p>
          <a:p>
            <a:pPr marL="285750" indent="-285750" algn="just">
              <a:buFont typeface="Wingdings" panose="05000000000000000000" pitchFamily="2" charset="2"/>
              <a:buChar char="§"/>
            </a:pPr>
            <a:r>
              <a:rPr lang="es-ES" sz="2000" dirty="0" smtClean="0">
                <a:solidFill>
                  <a:schemeClr val="tx1"/>
                </a:solidFill>
                <a:latin typeface="Arial" panose="020B0604020202020204" pitchFamily="34" charset="0"/>
                <a:cs typeface="Arial" panose="020B0604020202020204" pitchFamily="34" charset="0"/>
              </a:rPr>
              <a:t>Unidades de calor:</a:t>
            </a:r>
          </a:p>
          <a:p>
            <a:pPr marL="742950" lvl="1" indent="-285750" algn="just">
              <a:buFont typeface="Wingdings" panose="05000000000000000000" pitchFamily="2" charset="2"/>
              <a:buChar char="§"/>
            </a:pPr>
            <a:r>
              <a:rPr lang="es-AR" sz="2000" dirty="0">
                <a:solidFill>
                  <a:schemeClr val="tx1"/>
                </a:solidFill>
                <a:latin typeface="Arial" panose="020B0604020202020204" pitchFamily="34" charset="0"/>
                <a:cs typeface="Arial" panose="020B0604020202020204" pitchFamily="34" charset="0"/>
              </a:rPr>
              <a:t> la caloría (cal), que se define como la cantidad de transferencia de energía necesaria para elevar la temperatura de 1 g de agua de 14.5°C a 15.5°C</a:t>
            </a:r>
            <a:r>
              <a:rPr lang="es-AR" sz="2000" dirty="0" smtClean="0">
                <a:solidFill>
                  <a:schemeClr val="tx1"/>
                </a:solidFill>
                <a:latin typeface="Arial" panose="020B0604020202020204" pitchFamily="34" charset="0"/>
                <a:cs typeface="Arial" panose="020B0604020202020204" pitchFamily="34" charset="0"/>
              </a:rPr>
              <a:t>.</a:t>
            </a:r>
          </a:p>
          <a:p>
            <a:pPr marL="742950" lvl="1" indent="-285750" algn="just">
              <a:buFont typeface="Wingdings" panose="05000000000000000000" pitchFamily="2" charset="2"/>
              <a:buChar char="§"/>
            </a:pPr>
            <a:r>
              <a:rPr lang="es-AR" sz="2000" dirty="0">
                <a:solidFill>
                  <a:schemeClr val="tx1"/>
                </a:solidFill>
                <a:latin typeface="Arial" panose="020B0604020202020204" pitchFamily="34" charset="0"/>
                <a:cs typeface="Arial" panose="020B0604020202020204" pitchFamily="34" charset="0"/>
              </a:rPr>
              <a:t> </a:t>
            </a:r>
            <a:r>
              <a:rPr lang="es-AR" sz="2000" dirty="0" smtClean="0">
                <a:solidFill>
                  <a:schemeClr val="tx1"/>
                </a:solidFill>
                <a:latin typeface="Arial" panose="020B0604020202020204" pitchFamily="34" charset="0"/>
                <a:cs typeface="Arial" panose="020B0604020202020204" pitchFamily="34" charset="0"/>
              </a:rPr>
              <a:t>la unidad </a:t>
            </a:r>
            <a:r>
              <a:rPr lang="es-AR" sz="2000" dirty="0">
                <a:solidFill>
                  <a:schemeClr val="tx1"/>
                </a:solidFill>
                <a:latin typeface="Arial" panose="020B0604020202020204" pitchFamily="34" charset="0"/>
                <a:cs typeface="Arial" panose="020B0604020202020204" pitchFamily="34" charset="0"/>
              </a:rPr>
              <a:t>térmica británica (</a:t>
            </a:r>
            <a:r>
              <a:rPr lang="es-AR" sz="2000" dirty="0" err="1">
                <a:solidFill>
                  <a:schemeClr val="tx1"/>
                </a:solidFill>
                <a:latin typeface="Arial" panose="020B0604020202020204" pitchFamily="34" charset="0"/>
                <a:cs typeface="Arial" panose="020B0604020202020204" pitchFamily="34" charset="0"/>
              </a:rPr>
              <a:t>Btu</a:t>
            </a:r>
            <a:r>
              <a:rPr lang="es-AR" sz="2000" dirty="0">
                <a:solidFill>
                  <a:schemeClr val="tx1"/>
                </a:solidFill>
                <a:latin typeface="Arial" panose="020B0604020202020204" pitchFamily="34" charset="0"/>
                <a:cs typeface="Arial" panose="020B0604020202020204" pitchFamily="34" charset="0"/>
              </a:rPr>
              <a:t>), que es la cantidad de transferencia de energía que se requiere para elevar la temperatura de 1 lb de agua de 63°F a 64°F.</a:t>
            </a:r>
          </a:p>
        </p:txBody>
      </p:sp>
    </p:spTree>
    <p:extLst>
      <p:ext uri="{BB962C8B-B14F-4D97-AF65-F5344CB8AC3E}">
        <p14:creationId xmlns:p14="http://schemas.microsoft.com/office/powerpoint/2010/main" val="5561296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72083" y="280244"/>
            <a:ext cx="8911687" cy="851764"/>
          </a:xfrm>
        </p:spPr>
        <p:txBody>
          <a:bodyPr>
            <a:normAutofit/>
          </a:bodyPr>
          <a:lstStyle/>
          <a:p>
            <a:r>
              <a:rPr lang="es-AR" sz="4000" dirty="0">
                <a:latin typeface="Arial" panose="020B0604020202020204" pitchFamily="34" charset="0"/>
                <a:cs typeface="Arial" panose="020B0604020202020204" pitchFamily="34" charset="0"/>
              </a:rPr>
              <a:t>El equivalente </a:t>
            </a:r>
            <a:r>
              <a:rPr lang="es-AR" sz="4000" dirty="0" smtClean="0">
                <a:latin typeface="Arial" panose="020B0604020202020204" pitchFamily="34" charset="0"/>
                <a:cs typeface="Arial" panose="020B0604020202020204" pitchFamily="34" charset="0"/>
              </a:rPr>
              <a:t>mecánico </a:t>
            </a:r>
            <a:r>
              <a:rPr lang="es-AR" sz="4000" dirty="0">
                <a:latin typeface="Arial" panose="020B0604020202020204" pitchFamily="34" charset="0"/>
                <a:cs typeface="Arial" panose="020B0604020202020204" pitchFamily="34" charset="0"/>
              </a:rPr>
              <a:t>del calor </a:t>
            </a:r>
          </a:p>
        </p:txBody>
      </p:sp>
      <p:pic>
        <p:nvPicPr>
          <p:cNvPr id="1026" name="Picture 2" descr="http://www2.montes.upm.es/dptos/digfa/cfisica/termo1p/joule_files/joule_pq.gif"/>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2083" y="1348030"/>
            <a:ext cx="3598074" cy="3978442"/>
          </a:xfrm>
          <a:prstGeom prst="rect">
            <a:avLst/>
          </a:prstGeom>
          <a:noFill/>
          <a:extLst>
            <a:ext uri="{909E8E84-426E-40DD-AFC4-6F175D3DCCD1}">
              <a14:hiddenFill xmlns:a14="http://schemas.microsoft.com/office/drawing/2010/main">
                <a:solidFill>
                  <a:srgbClr val="FFFFFF"/>
                </a:solidFill>
              </a14:hiddenFill>
            </a:ext>
          </a:extLst>
        </p:spPr>
      </p:pic>
      <p:sp>
        <p:nvSpPr>
          <p:cNvPr id="7" name="Subtítulo 2"/>
          <p:cNvSpPr txBox="1">
            <a:spLocks/>
          </p:cNvSpPr>
          <p:nvPr/>
        </p:nvSpPr>
        <p:spPr>
          <a:xfrm>
            <a:off x="6079331" y="1116458"/>
            <a:ext cx="5633201" cy="552184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s-AR" dirty="0" smtClean="0">
                <a:solidFill>
                  <a:schemeClr val="tx1"/>
                </a:solidFill>
                <a:latin typeface="Arial" panose="020B0604020202020204" pitchFamily="34" charset="0"/>
                <a:cs typeface="Arial" panose="020B0604020202020204" pitchFamily="34" charset="0"/>
              </a:rPr>
              <a:t>Sobre el agua se invierte trabajo mediante una rueda de paletas giratoria, que se impulsa mediante pesados bloques que caen con una rapidez constante.</a:t>
            </a:r>
          </a:p>
          <a:p>
            <a:pPr algn="just">
              <a:buFont typeface="Arial" panose="020B0604020202020204" pitchFamily="34" charset="0"/>
              <a:buChar char="•"/>
            </a:pPr>
            <a:r>
              <a:rPr lang="es-AR" dirty="0" smtClean="0">
                <a:solidFill>
                  <a:schemeClr val="tx1"/>
                </a:solidFill>
                <a:latin typeface="Arial" panose="020B0604020202020204" pitchFamily="34" charset="0"/>
                <a:cs typeface="Arial" panose="020B0604020202020204" pitchFamily="34" charset="0"/>
              </a:rPr>
              <a:t>la pérdida en energía potencial del sistema bloques-Tierra mientras los bloques caen es igual al trabajo invertido por la rueda de paletas sobre el agua.</a:t>
            </a:r>
          </a:p>
          <a:p>
            <a:pPr algn="just">
              <a:buFont typeface="Arial" panose="020B0604020202020204" pitchFamily="34" charset="0"/>
              <a:buChar char="•"/>
            </a:pPr>
            <a:r>
              <a:rPr lang="es-AR" dirty="0" smtClean="0">
                <a:solidFill>
                  <a:schemeClr val="tx1"/>
                </a:solidFill>
                <a:latin typeface="Arial" panose="020B0604020202020204" pitchFamily="34" charset="0"/>
                <a:cs typeface="Arial" panose="020B0604020202020204" pitchFamily="34" charset="0"/>
              </a:rPr>
              <a:t>Si los dos bloques caen una distancia h, la pérdida de energía potencial es 2mgh, donde m es la masa de un bloque; esta energía hace que la temperatura del agua aumente debido a la fricción entre las paletas y el agua. </a:t>
            </a:r>
          </a:p>
          <a:p>
            <a:pPr algn="just">
              <a:buFont typeface="Arial" panose="020B0604020202020204" pitchFamily="34" charset="0"/>
              <a:buChar char="•"/>
            </a:pPr>
            <a:r>
              <a:rPr lang="es-AR" dirty="0" smtClean="0">
                <a:solidFill>
                  <a:schemeClr val="tx1"/>
                </a:solidFill>
                <a:latin typeface="Arial" panose="020B0604020202020204" pitchFamily="34" charset="0"/>
                <a:cs typeface="Arial" panose="020B0604020202020204" pitchFamily="34" charset="0"/>
              </a:rPr>
              <a:t>Lo que encontró Joule fue que, para elevar la temperatura del kilogramo de agua hasta 15.5ºC (es decir, para conseguir una energía de 1000 calorías), la energía potencial de la masa debía disminuir en 4180 Julios</a:t>
            </a:r>
            <a:endParaRPr lang="es-AR" dirty="0">
              <a:solidFill>
                <a:schemeClr val="tx1"/>
              </a:solidFill>
            </a:endParaRPr>
          </a:p>
        </p:txBody>
      </p:sp>
      <p:pic>
        <p:nvPicPr>
          <p:cNvPr id="6" name="Imagen 5"/>
          <p:cNvPicPr>
            <a:picLocks noChangeAspect="1"/>
          </p:cNvPicPr>
          <p:nvPr/>
        </p:nvPicPr>
        <p:blipFill>
          <a:blip r:embed="rId3"/>
          <a:stretch>
            <a:fillRect/>
          </a:stretch>
        </p:blipFill>
        <p:spPr>
          <a:xfrm>
            <a:off x="1474367" y="5585406"/>
            <a:ext cx="4813512" cy="577281"/>
          </a:xfrm>
          <a:prstGeom prst="rect">
            <a:avLst/>
          </a:prstGeom>
        </p:spPr>
      </p:pic>
    </p:spTree>
    <p:extLst>
      <p:ext uri="{BB962C8B-B14F-4D97-AF65-F5344CB8AC3E}">
        <p14:creationId xmlns:p14="http://schemas.microsoft.com/office/powerpoint/2010/main" val="188856657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fade">
                                      <p:cBhvr>
                                        <p:cTn id="27" dur="500"/>
                                        <p:tgtEl>
                                          <p:spTgt spid="7">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09001" y="413085"/>
            <a:ext cx="8915399" cy="806115"/>
          </a:xfrm>
        </p:spPr>
        <p:txBody>
          <a:bodyPr>
            <a:normAutofit/>
          </a:bodyPr>
          <a:lstStyle/>
          <a:p>
            <a:r>
              <a:rPr lang="es-AR" sz="4000" dirty="0"/>
              <a:t>Calor específico y calorimetría </a:t>
            </a:r>
          </a:p>
        </p:txBody>
      </p:sp>
      <p:sp>
        <p:nvSpPr>
          <p:cNvPr id="4" name="Subtítulo 3"/>
          <p:cNvSpPr>
            <a:spLocks noGrp="1"/>
          </p:cNvSpPr>
          <p:nvPr>
            <p:ph type="subTitle" idx="1"/>
          </p:nvPr>
        </p:nvSpPr>
        <p:spPr>
          <a:xfrm>
            <a:off x="2509001" y="1568958"/>
            <a:ext cx="8915399" cy="4735589"/>
          </a:xfrm>
        </p:spPr>
        <p:txBody>
          <a:bodyPr>
            <a:normAutofit/>
          </a:bodyPr>
          <a:lstStyle/>
          <a:p>
            <a:pPr marL="342900" indent="-342900" algn="just">
              <a:buFont typeface="Arial" panose="020B0604020202020204" pitchFamily="34" charset="0"/>
              <a:buChar char="•"/>
            </a:pPr>
            <a:r>
              <a:rPr lang="es-ES" sz="2000" dirty="0" smtClean="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 se encuentra que la cantidad de energía requerida para elevar la temperatura de una masa determinada de la sustancia a cierta cantidad varía de una sustancia a </a:t>
            </a:r>
            <a:r>
              <a:rPr lang="es-AR" sz="2000" dirty="0" smtClean="0">
                <a:solidFill>
                  <a:schemeClr val="tx1"/>
                </a:solidFill>
                <a:latin typeface="Arial" panose="020B0604020202020204" pitchFamily="34" charset="0"/>
                <a:cs typeface="Arial" panose="020B0604020202020204" pitchFamily="34" charset="0"/>
              </a:rPr>
              <a:t>otra…”</a:t>
            </a:r>
          </a:p>
          <a:p>
            <a:pPr marL="342900" indent="-34290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 </a:t>
            </a:r>
            <a:r>
              <a:rPr lang="es-AR" sz="2000" dirty="0" smtClean="0">
                <a:solidFill>
                  <a:schemeClr val="tx1"/>
                </a:solidFill>
                <a:latin typeface="Arial" panose="020B0604020202020204" pitchFamily="34" charset="0"/>
                <a:cs typeface="Arial" panose="020B0604020202020204" pitchFamily="34" charset="0"/>
              </a:rPr>
              <a:t>“… la capacidad </a:t>
            </a:r>
            <a:r>
              <a:rPr lang="es-AR" sz="2000" dirty="0">
                <a:solidFill>
                  <a:schemeClr val="tx1"/>
                </a:solidFill>
                <a:latin typeface="Arial" panose="020B0604020202020204" pitchFamily="34" charset="0"/>
                <a:cs typeface="Arial" panose="020B0604020202020204" pitchFamily="34" charset="0"/>
              </a:rPr>
              <a:t>térmica C de una muestra particular se define como la cantidad de energía necesaria para elevar la temperatura de dicha muestra en </a:t>
            </a:r>
            <a:r>
              <a:rPr lang="es-AR" sz="2000" dirty="0" smtClean="0">
                <a:solidFill>
                  <a:schemeClr val="tx1"/>
                </a:solidFill>
                <a:latin typeface="Arial" panose="020B0604020202020204" pitchFamily="34" charset="0"/>
                <a:cs typeface="Arial" panose="020B0604020202020204" pitchFamily="34" charset="0"/>
              </a:rPr>
              <a:t>1°C…”</a:t>
            </a:r>
          </a:p>
          <a:p>
            <a:pPr marL="342900" indent="-342900" algn="just">
              <a:buFont typeface="Arial" panose="020B0604020202020204" pitchFamily="34" charset="0"/>
              <a:buChar char="•"/>
            </a:pPr>
            <a:endParaRPr lang="es-ES" sz="2000" dirty="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s-AR" sz="2000"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e</a:t>
            </a:r>
            <a:r>
              <a:rPr lang="es-AR" sz="2000" dirty="0" smtClean="0">
                <a:solidFill>
                  <a:schemeClr val="tx1"/>
                </a:solidFill>
                <a:latin typeface="Arial" panose="020B0604020202020204" pitchFamily="34" charset="0"/>
                <a:cs typeface="Arial" panose="020B0604020202020204" pitchFamily="34" charset="0"/>
              </a:rPr>
              <a:t>l </a:t>
            </a:r>
            <a:r>
              <a:rPr lang="es-AR" sz="2000" dirty="0">
                <a:solidFill>
                  <a:schemeClr val="tx1"/>
                </a:solidFill>
                <a:latin typeface="Arial" panose="020B0604020202020204" pitchFamily="34" charset="0"/>
                <a:cs typeface="Arial" panose="020B0604020202020204" pitchFamily="34" charset="0"/>
              </a:rPr>
              <a:t>calor específico </a:t>
            </a:r>
            <a:r>
              <a:rPr lang="es-AR" sz="2000" b="1" i="1" dirty="0">
                <a:solidFill>
                  <a:schemeClr val="tx1"/>
                </a:solidFill>
                <a:latin typeface="Arial" panose="020B0604020202020204" pitchFamily="34" charset="0"/>
                <a:cs typeface="Arial" panose="020B0604020202020204" pitchFamily="34" charset="0"/>
              </a:rPr>
              <a:t>c</a:t>
            </a:r>
            <a:r>
              <a:rPr lang="es-AR" sz="2000" dirty="0">
                <a:solidFill>
                  <a:schemeClr val="tx1"/>
                </a:solidFill>
                <a:latin typeface="Arial" panose="020B0604020202020204" pitchFamily="34" charset="0"/>
                <a:cs typeface="Arial" panose="020B0604020202020204" pitchFamily="34" charset="0"/>
              </a:rPr>
              <a:t> de una sustancia es la capacidad térmica por unidad de </a:t>
            </a:r>
            <a:r>
              <a:rPr lang="es-AR" sz="2000" dirty="0" smtClean="0">
                <a:solidFill>
                  <a:schemeClr val="tx1"/>
                </a:solidFill>
                <a:latin typeface="Arial" panose="020B0604020202020204" pitchFamily="34" charset="0"/>
                <a:cs typeface="Arial" panose="020B0604020202020204" pitchFamily="34" charset="0"/>
              </a:rPr>
              <a:t>masa…”</a:t>
            </a:r>
          </a:p>
          <a:p>
            <a:pPr algn="just"/>
            <a:endParaRPr lang="es-AR" sz="2000" dirty="0">
              <a:solidFill>
                <a:schemeClr val="tx1"/>
              </a:solidFill>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5117078" y="3627146"/>
            <a:ext cx="1681706" cy="705231"/>
          </a:xfrm>
          <a:prstGeom prst="rect">
            <a:avLst/>
          </a:prstGeom>
        </p:spPr>
      </p:pic>
      <p:pic>
        <p:nvPicPr>
          <p:cNvPr id="6" name="Imagen 5"/>
          <p:cNvPicPr>
            <a:picLocks noChangeAspect="1"/>
          </p:cNvPicPr>
          <p:nvPr/>
        </p:nvPicPr>
        <p:blipFill>
          <a:blip r:embed="rId3"/>
          <a:stretch>
            <a:fillRect/>
          </a:stretch>
        </p:blipFill>
        <p:spPr>
          <a:xfrm>
            <a:off x="5117078" y="5189816"/>
            <a:ext cx="1681706" cy="922226"/>
          </a:xfrm>
          <a:prstGeom prst="rect">
            <a:avLst/>
          </a:prstGeom>
        </p:spPr>
      </p:pic>
      <p:pic>
        <p:nvPicPr>
          <p:cNvPr id="7" name="Imagen 6"/>
          <p:cNvPicPr>
            <a:picLocks noChangeAspect="1"/>
          </p:cNvPicPr>
          <p:nvPr/>
        </p:nvPicPr>
        <p:blipFill>
          <a:blip r:embed="rId4"/>
          <a:stretch>
            <a:fillRect/>
          </a:stretch>
        </p:blipFill>
        <p:spPr>
          <a:xfrm>
            <a:off x="7820151" y="5304131"/>
            <a:ext cx="2083282" cy="679573"/>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Entrada de lápiz 2"/>
              <p14:cNvContentPartPr/>
              <p14:nvPr/>
            </p14:nvContentPartPr>
            <p14:xfrm>
              <a:off x="6886440" y="3124080"/>
              <a:ext cx="533880" cy="152640"/>
            </p14:xfrm>
          </p:contentPart>
        </mc:Choice>
        <mc:Fallback xmlns="">
          <p:pic>
            <p:nvPicPr>
              <p:cNvPr id="3" name="Entrada de lápiz 2"/>
              <p:cNvPicPr/>
              <p:nvPr/>
            </p:nvPicPr>
            <p:blipFill>
              <a:blip r:embed="rId6"/>
              <a:stretch>
                <a:fillRect/>
              </a:stretch>
            </p:blipFill>
            <p:spPr>
              <a:xfrm>
                <a:off x="6877080" y="3114720"/>
                <a:ext cx="552600" cy="171360"/>
              </a:xfrm>
              <a:prstGeom prst="rect">
                <a:avLst/>
              </a:prstGeom>
            </p:spPr>
          </p:pic>
        </mc:Fallback>
      </mc:AlternateContent>
    </p:spTree>
    <p:extLst>
      <p:ext uri="{BB962C8B-B14F-4D97-AF65-F5344CB8AC3E}">
        <p14:creationId xmlns:p14="http://schemas.microsoft.com/office/powerpoint/2010/main" val="9237189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589212" y="3028790"/>
            <a:ext cx="8915399" cy="1126283"/>
          </a:xfrm>
        </p:spPr>
        <p:txBody>
          <a:bodyPr/>
          <a:lstStyle/>
          <a:p>
            <a:endParaRPr lang="es-AR" dirty="0"/>
          </a:p>
        </p:txBody>
      </p:sp>
      <p:pic>
        <p:nvPicPr>
          <p:cNvPr id="4" name="Imagen 3"/>
          <p:cNvPicPr>
            <a:picLocks noChangeAspect="1"/>
          </p:cNvPicPr>
          <p:nvPr/>
        </p:nvPicPr>
        <p:blipFill>
          <a:blip r:embed="rId2"/>
          <a:stretch>
            <a:fillRect/>
          </a:stretch>
        </p:blipFill>
        <p:spPr>
          <a:xfrm>
            <a:off x="2004087" y="1639033"/>
            <a:ext cx="9951619" cy="4280504"/>
          </a:xfrm>
          <a:prstGeom prst="rect">
            <a:avLst/>
          </a:prstGeom>
        </p:spPr>
      </p:pic>
      <p:sp>
        <p:nvSpPr>
          <p:cNvPr id="5" name="Título 1"/>
          <p:cNvSpPr>
            <a:spLocks noGrp="1"/>
          </p:cNvSpPr>
          <p:nvPr>
            <p:ph type="ctrTitle"/>
          </p:nvPr>
        </p:nvSpPr>
        <p:spPr>
          <a:xfrm>
            <a:off x="2004087" y="349250"/>
            <a:ext cx="9500526" cy="915076"/>
          </a:xfrm>
        </p:spPr>
        <p:txBody>
          <a:bodyPr>
            <a:normAutofit/>
          </a:bodyPr>
          <a:lstStyle/>
          <a:p>
            <a:r>
              <a:rPr lang="es-AR" sz="4000" dirty="0" smtClean="0"/>
              <a:t>Calores específicos</a:t>
            </a:r>
            <a:endParaRPr lang="es-AR" sz="4000" dirty="0"/>
          </a:p>
        </p:txBody>
      </p:sp>
      <mc:AlternateContent xmlns:mc="http://schemas.openxmlformats.org/markup-compatibility/2006" xmlns:p14="http://schemas.microsoft.com/office/powerpoint/2010/main">
        <mc:Choice Requires="p14">
          <p:contentPart p14:bwMode="auto" r:id="rId3">
            <p14:nvContentPartPr>
              <p14:cNvPr id="2" name="Entrada de lápiz 1"/>
              <p14:cNvContentPartPr/>
              <p14:nvPr/>
            </p14:nvContentPartPr>
            <p14:xfrm>
              <a:off x="6924600" y="3219480"/>
              <a:ext cx="360" cy="360"/>
            </p14:xfrm>
          </p:contentPart>
        </mc:Choice>
        <mc:Fallback xmlns="">
          <p:pic>
            <p:nvPicPr>
              <p:cNvPr id="2" name="Entrada de lápiz 1"/>
              <p:cNvPicPr/>
              <p:nvPr/>
            </p:nvPicPr>
            <p:blipFill>
              <a:blip r:embed="rId4"/>
              <a:stretch>
                <a:fillRect/>
              </a:stretch>
            </p:blipFill>
            <p:spPr>
              <a:xfrm>
                <a:off x="6915240" y="3210120"/>
                <a:ext cx="19080" cy="19080"/>
              </a:xfrm>
              <a:prstGeom prst="rect">
                <a:avLst/>
              </a:prstGeom>
            </p:spPr>
          </p:pic>
        </mc:Fallback>
      </mc:AlternateContent>
    </p:spTree>
    <p:extLst>
      <p:ext uri="{BB962C8B-B14F-4D97-AF65-F5344CB8AC3E}">
        <p14:creationId xmlns:p14="http://schemas.microsoft.com/office/powerpoint/2010/main" val="209672143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0" y="300791"/>
            <a:ext cx="8915399" cy="902368"/>
          </a:xfrm>
        </p:spPr>
        <p:txBody>
          <a:bodyPr>
            <a:normAutofit/>
          </a:bodyPr>
          <a:lstStyle/>
          <a:p>
            <a:r>
              <a:rPr lang="es-ES" sz="4000" dirty="0" smtClean="0">
                <a:latin typeface="Arial" panose="020B0604020202020204" pitchFamily="34" charset="0"/>
                <a:cs typeface="Arial" panose="020B0604020202020204" pitchFamily="34" charset="0"/>
              </a:rPr>
              <a:t>Calorimetría</a:t>
            </a:r>
            <a:endParaRPr lang="es-AR" sz="4000" dirty="0">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2589211" y="1459832"/>
            <a:ext cx="8915399" cy="4989093"/>
          </a:xfrm>
        </p:spPr>
        <p:txBody>
          <a:bodyPr>
            <a:normAutofit/>
          </a:bodyPr>
          <a:lstStyle/>
          <a:p>
            <a:pPr marL="285750" indent="-28575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Una técnica para medir calor específico involucra el calentamiento de una muestra en  alguna temperatura conocida </a:t>
            </a:r>
            <a:r>
              <a:rPr lang="es-AR" sz="2000" i="1" dirty="0" err="1" smtClean="0">
                <a:solidFill>
                  <a:schemeClr val="tx1"/>
                </a:solidFill>
                <a:latin typeface="Calisto MT" panose="02040603050505030304" pitchFamily="18" charset="0"/>
                <a:cs typeface="Arial" panose="020B0604020202020204" pitchFamily="34" charset="0"/>
              </a:rPr>
              <a:t>T</a:t>
            </a:r>
            <a:r>
              <a:rPr lang="es-AR" sz="1600" i="1" dirty="0" err="1" smtClean="0">
                <a:solidFill>
                  <a:schemeClr val="tx1"/>
                </a:solidFill>
                <a:latin typeface="Calisto MT" panose="02040603050505030304" pitchFamily="18" charset="0"/>
                <a:cs typeface="Arial" panose="020B0604020202020204" pitchFamily="34" charset="0"/>
              </a:rPr>
              <a:t>x</a:t>
            </a:r>
            <a:r>
              <a:rPr lang="es-AR" sz="2000" dirty="0" smtClean="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al colocarla en un recipiente que contenga agua de masa conocida y temperatura </a:t>
            </a:r>
            <a:r>
              <a:rPr lang="es-AR" sz="2000" i="1" dirty="0" smtClean="0">
                <a:solidFill>
                  <a:schemeClr val="tx1"/>
                </a:solidFill>
                <a:latin typeface="Calisto MT" panose="02040603050505030304" pitchFamily="18" charset="0"/>
                <a:cs typeface="Arial" panose="020B0604020202020204" pitchFamily="34" charset="0"/>
              </a:rPr>
              <a:t>T</a:t>
            </a:r>
            <a:r>
              <a:rPr lang="es-AR" sz="1400" i="1" dirty="0" smtClean="0">
                <a:solidFill>
                  <a:schemeClr val="tx1"/>
                </a:solidFill>
                <a:latin typeface="Calisto MT" panose="02040603050505030304" pitchFamily="18" charset="0"/>
                <a:cs typeface="Arial" panose="020B0604020202020204" pitchFamily="34" charset="0"/>
              </a:rPr>
              <a:t>w</a:t>
            </a:r>
            <a:r>
              <a:rPr lang="es-AR" sz="2000" dirty="0" smtClean="0">
                <a:solidFill>
                  <a:schemeClr val="tx1"/>
                </a:solidFill>
                <a:latin typeface="Arial" panose="020B0604020202020204" pitchFamily="34" charset="0"/>
                <a:cs typeface="Arial" panose="020B0604020202020204" pitchFamily="34" charset="0"/>
              </a:rPr>
              <a:t> &lt;  </a:t>
            </a:r>
            <a:r>
              <a:rPr lang="es-AR" sz="2000" i="1" dirty="0" err="1" smtClean="0">
                <a:solidFill>
                  <a:schemeClr val="tx1"/>
                </a:solidFill>
                <a:latin typeface="Calisto MT" panose="02040603050505030304" pitchFamily="18" charset="0"/>
                <a:cs typeface="Arial" panose="020B0604020202020204" pitchFamily="34" charset="0"/>
              </a:rPr>
              <a:t>T</a:t>
            </a:r>
            <a:r>
              <a:rPr lang="es-AR" sz="1600" i="1" dirty="0" err="1" smtClean="0">
                <a:solidFill>
                  <a:schemeClr val="tx1"/>
                </a:solidFill>
                <a:latin typeface="Calisto MT" panose="02040603050505030304" pitchFamily="18" charset="0"/>
                <a:cs typeface="Arial" panose="020B0604020202020204" pitchFamily="34" charset="0"/>
              </a:rPr>
              <a:t>x</a:t>
            </a:r>
            <a:r>
              <a:rPr lang="es-AR" sz="2000" dirty="0" smtClean="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y medir la temperatura del agua después de que se logra el equilibrio. </a:t>
            </a:r>
            <a:endParaRPr lang="es-AR" sz="2000" dirty="0" smtClean="0">
              <a:solidFill>
                <a:schemeClr val="tx1"/>
              </a:solidFill>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Esta </a:t>
            </a:r>
            <a:r>
              <a:rPr lang="es-AR" sz="2000" dirty="0">
                <a:solidFill>
                  <a:schemeClr val="tx1"/>
                </a:solidFill>
                <a:latin typeface="Arial" panose="020B0604020202020204" pitchFamily="34" charset="0"/>
                <a:cs typeface="Arial" panose="020B0604020202020204" pitchFamily="34" charset="0"/>
              </a:rPr>
              <a:t>técnica se llama calorimetría, y los dispositivos donde se presenta esta transferencia de energía se llaman calorímetros. </a:t>
            </a:r>
            <a:endParaRPr lang="es-AR" sz="2000" dirty="0" smtClean="0">
              <a:solidFill>
                <a:schemeClr val="tx1"/>
              </a:solidFill>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Si </a:t>
            </a:r>
            <a:r>
              <a:rPr lang="es-AR" sz="2000" dirty="0">
                <a:solidFill>
                  <a:schemeClr val="tx1"/>
                </a:solidFill>
                <a:latin typeface="Arial" panose="020B0604020202020204" pitchFamily="34" charset="0"/>
                <a:cs typeface="Arial" panose="020B0604020202020204" pitchFamily="34" charset="0"/>
              </a:rPr>
              <a:t>el sistema de la muestra y el agua está aislado, el principio de conservación de energía requiere que la cantidad de energía que sale de la muestra (de calor específico desconocido) sea igual a la cantidad </a:t>
            </a:r>
            <a:r>
              <a:rPr lang="es-AR" sz="2000" dirty="0" smtClean="0">
                <a:solidFill>
                  <a:schemeClr val="tx1"/>
                </a:solidFill>
                <a:latin typeface="Arial" panose="020B0604020202020204" pitchFamily="34" charset="0"/>
                <a:cs typeface="Arial" panose="020B0604020202020204" pitchFamily="34" charset="0"/>
              </a:rPr>
              <a:t>de </a:t>
            </a:r>
            <a:r>
              <a:rPr lang="es-AR" sz="2000" dirty="0">
                <a:solidFill>
                  <a:schemeClr val="tx1"/>
                </a:solidFill>
                <a:latin typeface="Arial" panose="020B0604020202020204" pitchFamily="34" charset="0"/>
                <a:cs typeface="Arial" panose="020B0604020202020204" pitchFamily="34" charset="0"/>
              </a:rPr>
              <a:t>energía que entra al agua</a:t>
            </a:r>
            <a:r>
              <a:rPr lang="es-AR" sz="2000" dirty="0" smtClean="0">
                <a:solidFill>
                  <a:schemeClr val="tx1"/>
                </a:solidFill>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La conservación de energía permite escribir la representación matemática de este enunciado energético como </a:t>
            </a:r>
            <a:r>
              <a:rPr lang="es-AR" sz="2000" dirty="0" smtClean="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7517330" y="5762836"/>
            <a:ext cx="2639701" cy="686089"/>
          </a:xfrm>
          <a:prstGeom prst="rect">
            <a:avLst/>
          </a:prstGeom>
        </p:spPr>
      </p:pic>
    </p:spTree>
    <p:extLst>
      <p:ext uri="{BB962C8B-B14F-4D97-AF65-F5344CB8AC3E}">
        <p14:creationId xmlns:p14="http://schemas.microsoft.com/office/powerpoint/2010/main" val="349488619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493296"/>
            <a:ext cx="8915399" cy="902368"/>
          </a:xfrm>
        </p:spPr>
        <p:txBody>
          <a:bodyPr>
            <a:normAutofit fontScale="90000"/>
          </a:bodyPr>
          <a:lstStyle/>
          <a:p>
            <a:r>
              <a:rPr lang="es-ES" dirty="0">
                <a:latin typeface="Arial" panose="020B0604020202020204" pitchFamily="34" charset="0"/>
                <a:cs typeface="Arial" panose="020B0604020202020204" pitchFamily="34" charset="0"/>
              </a:rPr>
              <a:t>Calorimetría</a:t>
            </a:r>
            <a:endParaRPr lang="es-AR" dirty="0"/>
          </a:p>
        </p:txBody>
      </p:sp>
      <p:pic>
        <p:nvPicPr>
          <p:cNvPr id="4" name="Imagen 3"/>
          <p:cNvPicPr>
            <a:picLocks noChangeAspect="1"/>
          </p:cNvPicPr>
          <p:nvPr/>
        </p:nvPicPr>
        <p:blipFill>
          <a:blip r:embed="rId2"/>
          <a:stretch>
            <a:fillRect/>
          </a:stretch>
        </p:blipFill>
        <p:spPr>
          <a:xfrm>
            <a:off x="2969643" y="1884646"/>
            <a:ext cx="5063558" cy="887306"/>
          </a:xfrm>
          <a:prstGeom prst="rect">
            <a:avLst/>
          </a:prstGeom>
        </p:spPr>
      </p:pic>
      <p:pic>
        <p:nvPicPr>
          <p:cNvPr id="5" name="Imagen 4"/>
          <p:cNvPicPr>
            <a:picLocks noChangeAspect="1"/>
          </p:cNvPicPr>
          <p:nvPr/>
        </p:nvPicPr>
        <p:blipFill>
          <a:blip r:embed="rId3"/>
          <a:stretch>
            <a:fillRect/>
          </a:stretch>
        </p:blipFill>
        <p:spPr>
          <a:xfrm>
            <a:off x="2969643" y="3028626"/>
            <a:ext cx="3023904" cy="1238574"/>
          </a:xfrm>
          <a:prstGeom prst="rect">
            <a:avLst/>
          </a:prstGeom>
        </p:spPr>
      </p:pic>
      <p:pic>
        <p:nvPicPr>
          <p:cNvPr id="6" name="Imagen 5"/>
          <p:cNvPicPr>
            <a:picLocks noChangeAspect="1"/>
          </p:cNvPicPr>
          <p:nvPr/>
        </p:nvPicPr>
        <p:blipFill>
          <a:blip r:embed="rId4"/>
          <a:stretch>
            <a:fillRect/>
          </a:stretch>
        </p:blipFill>
        <p:spPr>
          <a:xfrm>
            <a:off x="8422751" y="2230843"/>
            <a:ext cx="3179441" cy="4072713"/>
          </a:xfrm>
          <a:prstGeom prst="rect">
            <a:avLst/>
          </a:prstGeom>
        </p:spPr>
      </p:pic>
    </p:spTree>
    <p:extLst>
      <p:ext uri="{BB962C8B-B14F-4D97-AF65-F5344CB8AC3E}">
        <p14:creationId xmlns:p14="http://schemas.microsoft.com/office/powerpoint/2010/main" val="136273475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2" y="621632"/>
            <a:ext cx="8915399" cy="966537"/>
          </a:xfrm>
        </p:spPr>
        <p:txBody>
          <a:bodyPr/>
          <a:lstStyle/>
          <a:p>
            <a:r>
              <a:rPr lang="es-AR" dirty="0"/>
              <a:t>Calor latente </a:t>
            </a:r>
          </a:p>
        </p:txBody>
      </p:sp>
      <p:sp>
        <p:nvSpPr>
          <p:cNvPr id="3" name="Subtítulo 2"/>
          <p:cNvSpPr>
            <a:spLocks noGrp="1"/>
          </p:cNvSpPr>
          <p:nvPr>
            <p:ph type="subTitle" idx="1"/>
          </p:nvPr>
        </p:nvSpPr>
        <p:spPr>
          <a:xfrm>
            <a:off x="2589212" y="1937927"/>
            <a:ext cx="8915399" cy="1126283"/>
          </a:xfrm>
        </p:spPr>
        <p:txBody>
          <a:bodyPr/>
          <a:lstStyle/>
          <a:p>
            <a:endParaRPr lang="es-AR"/>
          </a:p>
        </p:txBody>
      </p:sp>
      <p:pic>
        <p:nvPicPr>
          <p:cNvPr id="4" name="Imagen 3"/>
          <p:cNvPicPr>
            <a:picLocks noChangeAspect="1"/>
          </p:cNvPicPr>
          <p:nvPr/>
        </p:nvPicPr>
        <p:blipFill>
          <a:blip r:embed="rId2"/>
          <a:stretch>
            <a:fillRect/>
          </a:stretch>
        </p:blipFill>
        <p:spPr>
          <a:xfrm>
            <a:off x="2465386" y="1809787"/>
            <a:ext cx="9039225" cy="4619625"/>
          </a:xfrm>
          <a:prstGeom prst="rect">
            <a:avLst/>
          </a:prstGeom>
        </p:spPr>
      </p:pic>
      <p:pic>
        <p:nvPicPr>
          <p:cNvPr id="9" name="Imagen 8"/>
          <p:cNvPicPr>
            <a:picLocks noChangeAspect="1"/>
          </p:cNvPicPr>
          <p:nvPr/>
        </p:nvPicPr>
        <p:blipFill>
          <a:blip r:embed="rId3"/>
          <a:stretch>
            <a:fillRect/>
          </a:stretch>
        </p:blipFill>
        <p:spPr>
          <a:xfrm>
            <a:off x="3156668" y="2027582"/>
            <a:ext cx="866775" cy="3430769"/>
          </a:xfrm>
          <a:prstGeom prst="rect">
            <a:avLst/>
          </a:prstGeom>
        </p:spPr>
      </p:pic>
      <p:pic>
        <p:nvPicPr>
          <p:cNvPr id="10" name="Imagen 9"/>
          <p:cNvPicPr>
            <a:picLocks noChangeAspect="1"/>
          </p:cNvPicPr>
          <p:nvPr/>
        </p:nvPicPr>
        <p:blipFill>
          <a:blip r:embed="rId4"/>
          <a:stretch>
            <a:fillRect/>
          </a:stretch>
        </p:blipFill>
        <p:spPr>
          <a:xfrm>
            <a:off x="4023443" y="2111883"/>
            <a:ext cx="1031000" cy="3620596"/>
          </a:xfrm>
          <a:prstGeom prst="rect">
            <a:avLst/>
          </a:prstGeom>
        </p:spPr>
      </p:pic>
      <p:pic>
        <p:nvPicPr>
          <p:cNvPr id="12" name="Imagen 11"/>
          <p:cNvPicPr>
            <a:picLocks noChangeAspect="1"/>
          </p:cNvPicPr>
          <p:nvPr/>
        </p:nvPicPr>
        <p:blipFill>
          <a:blip r:embed="rId5"/>
          <a:stretch>
            <a:fillRect/>
          </a:stretch>
        </p:blipFill>
        <p:spPr>
          <a:xfrm>
            <a:off x="5054444" y="2212054"/>
            <a:ext cx="5682792" cy="3547904"/>
          </a:xfrm>
          <a:prstGeom prst="rect">
            <a:avLst/>
          </a:prstGeom>
        </p:spPr>
      </p:pic>
      <p:pic>
        <p:nvPicPr>
          <p:cNvPr id="14" name="Imagen 13"/>
          <p:cNvPicPr>
            <a:picLocks noChangeAspect="1"/>
          </p:cNvPicPr>
          <p:nvPr/>
        </p:nvPicPr>
        <p:blipFill>
          <a:blip r:embed="rId6"/>
          <a:stretch>
            <a:fillRect/>
          </a:stretch>
        </p:blipFill>
        <p:spPr>
          <a:xfrm>
            <a:off x="2819536" y="5700551"/>
            <a:ext cx="657225" cy="390525"/>
          </a:xfrm>
          <a:prstGeom prst="rect">
            <a:avLst/>
          </a:prstGeom>
        </p:spPr>
      </p:pic>
      <p:pic>
        <p:nvPicPr>
          <p:cNvPr id="15" name="Imagen 14"/>
          <p:cNvPicPr>
            <a:picLocks noChangeAspect="1"/>
          </p:cNvPicPr>
          <p:nvPr/>
        </p:nvPicPr>
        <p:blipFill>
          <a:blip r:embed="rId7"/>
          <a:stretch>
            <a:fillRect/>
          </a:stretch>
        </p:blipFill>
        <p:spPr>
          <a:xfrm>
            <a:off x="3727956" y="5679969"/>
            <a:ext cx="678788" cy="425603"/>
          </a:xfrm>
          <a:prstGeom prst="rect">
            <a:avLst/>
          </a:prstGeom>
        </p:spPr>
      </p:pic>
      <p:pic>
        <p:nvPicPr>
          <p:cNvPr id="16" name="Imagen 15"/>
          <p:cNvPicPr>
            <a:picLocks noChangeAspect="1"/>
          </p:cNvPicPr>
          <p:nvPr/>
        </p:nvPicPr>
        <p:blipFill>
          <a:blip r:embed="rId8"/>
          <a:stretch>
            <a:fillRect/>
          </a:stretch>
        </p:blipFill>
        <p:spPr>
          <a:xfrm>
            <a:off x="4778189" y="5724400"/>
            <a:ext cx="626868" cy="438150"/>
          </a:xfrm>
          <a:prstGeom prst="rect">
            <a:avLst/>
          </a:prstGeom>
        </p:spPr>
      </p:pic>
      <p:pic>
        <p:nvPicPr>
          <p:cNvPr id="17" name="Imagen 16"/>
          <p:cNvPicPr>
            <a:picLocks noChangeAspect="1"/>
          </p:cNvPicPr>
          <p:nvPr/>
        </p:nvPicPr>
        <p:blipFill>
          <a:blip r:embed="rId9"/>
          <a:stretch>
            <a:fillRect/>
          </a:stretch>
        </p:blipFill>
        <p:spPr>
          <a:xfrm>
            <a:off x="10135086" y="5721857"/>
            <a:ext cx="657225" cy="333375"/>
          </a:xfrm>
          <a:prstGeom prst="rect">
            <a:avLst/>
          </a:prstGeom>
        </p:spPr>
      </p:pic>
      <p:pic>
        <p:nvPicPr>
          <p:cNvPr id="18" name="Imagen 17"/>
          <p:cNvPicPr>
            <a:picLocks noChangeAspect="1"/>
          </p:cNvPicPr>
          <p:nvPr/>
        </p:nvPicPr>
        <p:blipFill>
          <a:blip r:embed="rId10"/>
          <a:stretch>
            <a:fillRect/>
          </a:stretch>
        </p:blipFill>
        <p:spPr>
          <a:xfrm>
            <a:off x="10792311" y="5702806"/>
            <a:ext cx="647700" cy="371475"/>
          </a:xfrm>
          <a:prstGeom prst="rect">
            <a:avLst/>
          </a:prstGeom>
        </p:spPr>
      </p:pic>
      <p:pic>
        <p:nvPicPr>
          <p:cNvPr id="19" name="Imagen 18"/>
          <p:cNvPicPr>
            <a:picLocks noChangeAspect="1"/>
          </p:cNvPicPr>
          <p:nvPr/>
        </p:nvPicPr>
        <p:blipFill>
          <a:blip r:embed="rId11"/>
          <a:stretch>
            <a:fillRect/>
          </a:stretch>
        </p:blipFill>
        <p:spPr>
          <a:xfrm>
            <a:off x="2933700" y="4716780"/>
            <a:ext cx="222968" cy="741571"/>
          </a:xfrm>
          <a:prstGeom prst="rect">
            <a:avLst/>
          </a:prstGeom>
        </p:spPr>
      </p:pic>
      <p:pic>
        <p:nvPicPr>
          <p:cNvPr id="21" name="Imagen 20"/>
          <p:cNvPicPr>
            <a:picLocks noChangeAspect="1"/>
          </p:cNvPicPr>
          <p:nvPr/>
        </p:nvPicPr>
        <p:blipFill>
          <a:blip r:embed="rId12"/>
          <a:stretch>
            <a:fillRect/>
          </a:stretch>
        </p:blipFill>
        <p:spPr>
          <a:xfrm>
            <a:off x="10727711" y="1940058"/>
            <a:ext cx="142875" cy="3819900"/>
          </a:xfrm>
          <a:prstGeom prst="rect">
            <a:avLst/>
          </a:prstGeom>
        </p:spPr>
      </p:pic>
    </p:spTree>
    <p:extLst>
      <p:ext uri="{BB962C8B-B14F-4D97-AF65-F5344CB8AC3E}">
        <p14:creationId xmlns:p14="http://schemas.microsoft.com/office/powerpoint/2010/main" val="377789961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000"/>
                                        <p:tgtEl>
                                          <p:spTgt spid="9"/>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3000"/>
                                        <p:tgtEl>
                                          <p:spTgt spid="10"/>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3000"/>
                                        <p:tgtEl>
                                          <p:spTgt spid="12"/>
                                        </p:tgtEl>
                                      </p:cBhvr>
                                    </p:animEffect>
                                  </p:childTnLst>
                                </p:cTn>
                              </p:par>
                            </p:childTnLst>
                          </p:cTn>
                        </p:par>
                        <p:par>
                          <p:cTn id="39" fill="hold">
                            <p:stCondLst>
                              <p:cond delay="3000"/>
                            </p:stCondLst>
                            <p:childTnLst>
                              <p:par>
                                <p:cTn id="40" presetID="10" presetClass="entr" presetSubtype="0"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1400"/>
                                        <p:tgtEl>
                                          <p:spTgt spid="21"/>
                                        </p:tgtEl>
                                      </p:cBhvr>
                                    </p:animEffect>
                                  </p:childTnLst>
                                </p:cTn>
                              </p:par>
                            </p:childTnLst>
                          </p:cTn>
                        </p:par>
                        <p:par>
                          <p:cTn id="48" fill="hold">
                            <p:stCondLst>
                              <p:cond delay="1400"/>
                            </p:stCondLst>
                            <p:childTnLst>
                              <p:par>
                                <p:cTn id="49" presetID="10" presetClass="entr" presetSubtype="0"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078876" y="1299070"/>
            <a:ext cx="6747293" cy="3341862"/>
          </a:xfrm>
          <a:prstGeom prst="rect">
            <a:avLst/>
          </a:prstGeom>
        </p:spPr>
      </p:pic>
      <p:sp>
        <p:nvSpPr>
          <p:cNvPr id="5" name="Título 1"/>
          <p:cNvSpPr>
            <a:spLocks noGrp="1"/>
          </p:cNvSpPr>
          <p:nvPr>
            <p:ph type="ctrTitle"/>
          </p:nvPr>
        </p:nvSpPr>
        <p:spPr>
          <a:xfrm>
            <a:off x="2252328" y="316832"/>
            <a:ext cx="8915399" cy="750179"/>
          </a:xfrm>
        </p:spPr>
        <p:txBody>
          <a:bodyPr>
            <a:normAutofit/>
          </a:bodyPr>
          <a:lstStyle/>
          <a:p>
            <a:r>
              <a:rPr lang="es-AR" sz="4000" dirty="0"/>
              <a:t>Calor latente </a:t>
            </a:r>
          </a:p>
        </p:txBody>
      </p:sp>
      <p:pic>
        <p:nvPicPr>
          <p:cNvPr id="6" name="Imagen 5"/>
          <p:cNvPicPr>
            <a:picLocks noChangeAspect="1"/>
          </p:cNvPicPr>
          <p:nvPr/>
        </p:nvPicPr>
        <p:blipFill>
          <a:blip r:embed="rId3"/>
          <a:stretch>
            <a:fillRect/>
          </a:stretch>
        </p:blipFill>
        <p:spPr>
          <a:xfrm>
            <a:off x="2059823" y="4618307"/>
            <a:ext cx="781159" cy="314369"/>
          </a:xfrm>
          <a:prstGeom prst="rect">
            <a:avLst/>
          </a:prstGeom>
        </p:spPr>
      </p:pic>
      <p:pic>
        <p:nvPicPr>
          <p:cNvPr id="7" name="Imagen 6"/>
          <p:cNvPicPr>
            <a:picLocks noChangeAspect="1"/>
          </p:cNvPicPr>
          <p:nvPr/>
        </p:nvPicPr>
        <p:blipFill>
          <a:blip r:embed="rId4"/>
          <a:stretch>
            <a:fillRect/>
          </a:stretch>
        </p:blipFill>
        <p:spPr>
          <a:xfrm>
            <a:off x="3443793" y="4618307"/>
            <a:ext cx="5363323" cy="371527"/>
          </a:xfrm>
          <a:prstGeom prst="rect">
            <a:avLst/>
          </a:prstGeom>
        </p:spPr>
      </p:pic>
      <p:pic>
        <p:nvPicPr>
          <p:cNvPr id="8" name="Imagen 7"/>
          <p:cNvPicPr>
            <a:picLocks noChangeAspect="1"/>
          </p:cNvPicPr>
          <p:nvPr/>
        </p:nvPicPr>
        <p:blipFill>
          <a:blip r:embed="rId5"/>
          <a:stretch>
            <a:fillRect/>
          </a:stretch>
        </p:blipFill>
        <p:spPr>
          <a:xfrm>
            <a:off x="2078876" y="5034675"/>
            <a:ext cx="762106" cy="285790"/>
          </a:xfrm>
          <a:prstGeom prst="rect">
            <a:avLst/>
          </a:prstGeom>
        </p:spPr>
      </p:pic>
      <p:pic>
        <p:nvPicPr>
          <p:cNvPr id="9" name="Imagen 8"/>
          <p:cNvPicPr>
            <a:picLocks noChangeAspect="1"/>
          </p:cNvPicPr>
          <p:nvPr/>
        </p:nvPicPr>
        <p:blipFill>
          <a:blip r:embed="rId6"/>
          <a:stretch>
            <a:fillRect/>
          </a:stretch>
        </p:blipFill>
        <p:spPr>
          <a:xfrm>
            <a:off x="3442069" y="4987043"/>
            <a:ext cx="4505954" cy="409632"/>
          </a:xfrm>
          <a:prstGeom prst="rect">
            <a:avLst/>
          </a:prstGeom>
        </p:spPr>
      </p:pic>
      <p:pic>
        <p:nvPicPr>
          <p:cNvPr id="10" name="Imagen 9"/>
          <p:cNvPicPr>
            <a:picLocks noChangeAspect="1"/>
          </p:cNvPicPr>
          <p:nvPr/>
        </p:nvPicPr>
        <p:blipFill>
          <a:blip r:embed="rId7"/>
          <a:stretch>
            <a:fillRect/>
          </a:stretch>
        </p:blipFill>
        <p:spPr>
          <a:xfrm>
            <a:off x="2048573" y="5396675"/>
            <a:ext cx="790685" cy="295316"/>
          </a:xfrm>
          <a:prstGeom prst="rect">
            <a:avLst/>
          </a:prstGeom>
        </p:spPr>
      </p:pic>
      <p:pic>
        <p:nvPicPr>
          <p:cNvPr id="11" name="Imagen 10"/>
          <p:cNvPicPr>
            <a:picLocks noChangeAspect="1"/>
          </p:cNvPicPr>
          <p:nvPr/>
        </p:nvPicPr>
        <p:blipFill>
          <a:blip r:embed="rId8"/>
          <a:stretch>
            <a:fillRect/>
          </a:stretch>
        </p:blipFill>
        <p:spPr>
          <a:xfrm>
            <a:off x="3443793" y="5396675"/>
            <a:ext cx="5963482" cy="400106"/>
          </a:xfrm>
          <a:prstGeom prst="rect">
            <a:avLst/>
          </a:prstGeom>
        </p:spPr>
      </p:pic>
      <p:pic>
        <p:nvPicPr>
          <p:cNvPr id="12" name="Imagen 11"/>
          <p:cNvPicPr>
            <a:picLocks noChangeAspect="1"/>
          </p:cNvPicPr>
          <p:nvPr/>
        </p:nvPicPr>
        <p:blipFill>
          <a:blip r:embed="rId9"/>
          <a:stretch>
            <a:fillRect/>
          </a:stretch>
        </p:blipFill>
        <p:spPr>
          <a:xfrm>
            <a:off x="2070130" y="5803108"/>
            <a:ext cx="809738" cy="304843"/>
          </a:xfrm>
          <a:prstGeom prst="rect">
            <a:avLst/>
          </a:prstGeom>
        </p:spPr>
      </p:pic>
      <p:pic>
        <p:nvPicPr>
          <p:cNvPr id="13" name="Imagen 12"/>
          <p:cNvPicPr>
            <a:picLocks noChangeAspect="1"/>
          </p:cNvPicPr>
          <p:nvPr/>
        </p:nvPicPr>
        <p:blipFill>
          <a:blip r:embed="rId10"/>
          <a:stretch>
            <a:fillRect/>
          </a:stretch>
        </p:blipFill>
        <p:spPr>
          <a:xfrm>
            <a:off x="3442069" y="5803516"/>
            <a:ext cx="5191850" cy="400106"/>
          </a:xfrm>
          <a:prstGeom prst="rect">
            <a:avLst/>
          </a:prstGeom>
        </p:spPr>
      </p:pic>
      <p:pic>
        <p:nvPicPr>
          <p:cNvPr id="14" name="Imagen 13"/>
          <p:cNvPicPr>
            <a:picLocks noChangeAspect="1"/>
          </p:cNvPicPr>
          <p:nvPr/>
        </p:nvPicPr>
        <p:blipFill>
          <a:blip r:embed="rId11"/>
          <a:stretch>
            <a:fillRect/>
          </a:stretch>
        </p:blipFill>
        <p:spPr>
          <a:xfrm>
            <a:off x="2064338" y="6229409"/>
            <a:ext cx="724001" cy="314369"/>
          </a:xfrm>
          <a:prstGeom prst="rect">
            <a:avLst/>
          </a:prstGeom>
        </p:spPr>
      </p:pic>
      <p:pic>
        <p:nvPicPr>
          <p:cNvPr id="15" name="Imagen 14"/>
          <p:cNvPicPr>
            <a:picLocks noChangeAspect="1"/>
          </p:cNvPicPr>
          <p:nvPr/>
        </p:nvPicPr>
        <p:blipFill>
          <a:blip r:embed="rId12"/>
          <a:stretch>
            <a:fillRect/>
          </a:stretch>
        </p:blipFill>
        <p:spPr>
          <a:xfrm>
            <a:off x="3442069" y="6210357"/>
            <a:ext cx="5868219" cy="352474"/>
          </a:xfrm>
          <a:prstGeom prst="rect">
            <a:avLst/>
          </a:prstGeom>
        </p:spPr>
      </p:pic>
      <p:grpSp>
        <p:nvGrpSpPr>
          <p:cNvPr id="27" name="Grupo 26"/>
          <p:cNvGrpSpPr/>
          <p:nvPr/>
        </p:nvGrpSpPr>
        <p:grpSpPr>
          <a:xfrm>
            <a:off x="2879868" y="3161841"/>
            <a:ext cx="1493828" cy="2234834"/>
            <a:chOff x="2879868" y="3161841"/>
            <a:chExt cx="1493828" cy="2234834"/>
          </a:xfrm>
        </p:grpSpPr>
        <p:sp>
          <p:nvSpPr>
            <p:cNvPr id="16" name="Elipse 15"/>
            <p:cNvSpPr/>
            <p:nvPr/>
          </p:nvSpPr>
          <p:spPr>
            <a:xfrm>
              <a:off x="2879868" y="3161841"/>
              <a:ext cx="436209" cy="40762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Elipse 18"/>
            <p:cNvSpPr/>
            <p:nvPr/>
          </p:nvSpPr>
          <p:spPr>
            <a:xfrm>
              <a:off x="3988106" y="5034675"/>
              <a:ext cx="385590" cy="362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2" name="Conector recto de flecha 21"/>
            <p:cNvCxnSpPr>
              <a:stCxn id="16" idx="4"/>
              <a:endCxn id="19" idx="1"/>
            </p:cNvCxnSpPr>
            <p:nvPr/>
          </p:nvCxnSpPr>
          <p:spPr>
            <a:xfrm>
              <a:off x="3097973" y="3569465"/>
              <a:ext cx="946601" cy="15182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p:nvGrpSpPr>
        <p:grpSpPr>
          <a:xfrm>
            <a:off x="4065224" y="1604429"/>
            <a:ext cx="2351993" cy="4599193"/>
            <a:chOff x="4065224" y="1604429"/>
            <a:chExt cx="2351993" cy="4599193"/>
          </a:xfrm>
        </p:grpSpPr>
        <p:sp>
          <p:nvSpPr>
            <p:cNvPr id="18" name="Elipse 17"/>
            <p:cNvSpPr/>
            <p:nvPr/>
          </p:nvSpPr>
          <p:spPr>
            <a:xfrm>
              <a:off x="6009592" y="1604429"/>
              <a:ext cx="407625" cy="41864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Elipse 19"/>
            <p:cNvSpPr/>
            <p:nvPr/>
          </p:nvSpPr>
          <p:spPr>
            <a:xfrm>
              <a:off x="4065224" y="5803516"/>
              <a:ext cx="407624" cy="40010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6" name="Conector recto de flecha 25"/>
            <p:cNvCxnSpPr>
              <a:stCxn id="18" idx="3"/>
              <a:endCxn id="20" idx="7"/>
            </p:cNvCxnSpPr>
            <p:nvPr/>
          </p:nvCxnSpPr>
          <p:spPr>
            <a:xfrm flipH="1">
              <a:off x="4413153" y="1961761"/>
              <a:ext cx="1656134" cy="390034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Rectángulo 28"/>
          <p:cNvSpPr/>
          <p:nvPr/>
        </p:nvSpPr>
        <p:spPr>
          <a:xfrm>
            <a:off x="9407274" y="2804381"/>
            <a:ext cx="2325689" cy="646331"/>
          </a:xfrm>
          <a:prstGeom prst="rect">
            <a:avLst/>
          </a:prstGeom>
        </p:spPr>
        <p:txBody>
          <a:bodyPr wrap="square">
            <a:spAutoFit/>
          </a:bodyPr>
          <a:lstStyle/>
          <a:p>
            <a:pPr algn="ctr"/>
            <a:r>
              <a:rPr lang="es-AR" dirty="0">
                <a:latin typeface="Times New Roman" panose="02020603050405020304" pitchFamily="18" charset="0"/>
                <a:cs typeface="Times New Roman" panose="02020603050405020304" pitchFamily="18" charset="0"/>
              </a:rPr>
              <a:t> </a:t>
            </a:r>
            <a:r>
              <a:rPr lang="es-AR" dirty="0" err="1" smtClean="0">
                <a:latin typeface="Times New Roman" panose="02020603050405020304" pitchFamily="18" charset="0"/>
                <a:cs typeface="Times New Roman" panose="02020603050405020304" pitchFamily="18" charset="0"/>
              </a:rPr>
              <a:t>Lv</a:t>
            </a:r>
            <a:r>
              <a:rPr lang="es-AR" dirty="0" smtClean="0">
                <a:latin typeface="Times New Roman" panose="02020603050405020304" pitchFamily="18" charset="0"/>
                <a:cs typeface="Times New Roman" panose="02020603050405020304" pitchFamily="18" charset="0"/>
              </a:rPr>
              <a:t> = Calor </a:t>
            </a:r>
            <a:r>
              <a:rPr lang="es-AR" dirty="0">
                <a:latin typeface="Times New Roman" panose="02020603050405020304" pitchFamily="18" charset="0"/>
                <a:cs typeface="Times New Roman" panose="02020603050405020304" pitchFamily="18" charset="0"/>
              </a:rPr>
              <a:t>latente de </a:t>
            </a:r>
            <a:r>
              <a:rPr lang="es-AR" dirty="0" smtClean="0">
                <a:latin typeface="Times New Roman" panose="02020603050405020304" pitchFamily="18" charset="0"/>
                <a:cs typeface="Times New Roman" panose="02020603050405020304" pitchFamily="18" charset="0"/>
              </a:rPr>
              <a:t>vaporización</a:t>
            </a:r>
            <a:endParaRPr lang="es-AR" dirty="0">
              <a:latin typeface="Times New Roman" panose="02020603050405020304" pitchFamily="18" charset="0"/>
              <a:cs typeface="Times New Roman" panose="02020603050405020304" pitchFamily="18" charset="0"/>
            </a:endParaRPr>
          </a:p>
        </p:txBody>
      </p:sp>
      <p:sp>
        <p:nvSpPr>
          <p:cNvPr id="30" name="Rectángulo 29"/>
          <p:cNvSpPr/>
          <p:nvPr/>
        </p:nvSpPr>
        <p:spPr>
          <a:xfrm>
            <a:off x="9407275" y="1881051"/>
            <a:ext cx="2230404" cy="646331"/>
          </a:xfrm>
          <a:prstGeom prst="rect">
            <a:avLst/>
          </a:prstGeom>
        </p:spPr>
        <p:txBody>
          <a:bodyPr wrap="square">
            <a:spAutoFit/>
          </a:bodyPr>
          <a:lstStyle/>
          <a:p>
            <a:pPr algn="ctr"/>
            <a:r>
              <a:rPr lang="es-AR" dirty="0" err="1" smtClean="0">
                <a:latin typeface="Times New Roman" panose="02020603050405020304" pitchFamily="18" charset="0"/>
                <a:cs typeface="Times New Roman" panose="02020603050405020304" pitchFamily="18" charset="0"/>
              </a:rPr>
              <a:t>Lf</a:t>
            </a:r>
            <a:r>
              <a:rPr lang="es-AR" dirty="0" smtClean="0">
                <a:latin typeface="Times New Roman" panose="02020603050405020304" pitchFamily="18" charset="0"/>
                <a:cs typeface="Times New Roman" panose="02020603050405020304" pitchFamily="18" charset="0"/>
              </a:rPr>
              <a:t> = Calor </a:t>
            </a:r>
            <a:r>
              <a:rPr lang="es-AR" dirty="0">
                <a:latin typeface="Times New Roman" panose="02020603050405020304" pitchFamily="18" charset="0"/>
                <a:cs typeface="Times New Roman" panose="02020603050405020304" pitchFamily="18" charset="0"/>
              </a:rPr>
              <a:t>latente de fusión </a:t>
            </a:r>
          </a:p>
        </p:txBody>
      </p:sp>
    </p:spTree>
    <p:extLst>
      <p:ext uri="{BB962C8B-B14F-4D97-AF65-F5344CB8AC3E}">
        <p14:creationId xmlns:p14="http://schemas.microsoft.com/office/powerpoint/2010/main" val="312080080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circle(in)">
                                      <p:cBhvr>
                                        <p:cTn id="72" dur="20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circle(in)">
                                      <p:cBhvr>
                                        <p:cTn id="7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AR"/>
          </a:p>
        </p:txBody>
      </p:sp>
      <p:sp>
        <p:nvSpPr>
          <p:cNvPr id="3" name="Subtítulo 2"/>
          <p:cNvSpPr>
            <a:spLocks noGrp="1"/>
          </p:cNvSpPr>
          <p:nvPr>
            <p:ph type="subTitle" idx="1"/>
          </p:nvPr>
        </p:nvSpPr>
        <p:spPr/>
        <p:txBody>
          <a:bodyPr/>
          <a:lstStyle/>
          <a:p>
            <a:endParaRPr lang="es-AR"/>
          </a:p>
        </p:txBody>
      </p:sp>
      <p:pic>
        <p:nvPicPr>
          <p:cNvPr id="4" name="Imagen 3"/>
          <p:cNvPicPr>
            <a:picLocks noChangeAspect="1"/>
          </p:cNvPicPr>
          <p:nvPr/>
        </p:nvPicPr>
        <p:blipFill>
          <a:blip r:embed="rId2"/>
          <a:stretch>
            <a:fillRect/>
          </a:stretch>
        </p:blipFill>
        <p:spPr>
          <a:xfrm>
            <a:off x="2128838" y="1086067"/>
            <a:ext cx="9375774" cy="4975592"/>
          </a:xfrm>
          <a:prstGeom prst="rect">
            <a:avLst/>
          </a:prstGeom>
        </p:spPr>
      </p:pic>
      <p:sp>
        <p:nvSpPr>
          <p:cNvPr id="5" name="Título 1"/>
          <p:cNvSpPr txBox="1">
            <a:spLocks/>
          </p:cNvSpPr>
          <p:nvPr/>
        </p:nvSpPr>
        <p:spPr>
          <a:xfrm>
            <a:off x="2252328" y="316832"/>
            <a:ext cx="8915399" cy="750179"/>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4000" smtClean="0"/>
              <a:t>Calor latente </a:t>
            </a:r>
            <a:endParaRPr lang="es-AR" sz="4000" dirty="0"/>
          </a:p>
        </p:txBody>
      </p:sp>
    </p:spTree>
    <p:extLst>
      <p:ext uri="{BB962C8B-B14F-4D97-AF65-F5344CB8AC3E}">
        <p14:creationId xmlns:p14="http://schemas.microsoft.com/office/powerpoint/2010/main" val="3996149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92925" y="624110"/>
            <a:ext cx="8911687" cy="704628"/>
          </a:xfrm>
        </p:spPr>
        <p:txBody>
          <a:bodyPr/>
          <a:lstStyle/>
          <a:p>
            <a:r>
              <a:rPr lang="es-ES" dirty="0" smtClean="0"/>
              <a:t>Calorimetría</a:t>
            </a:r>
            <a:endParaRPr lang="es-AR" dirty="0"/>
          </a:p>
        </p:txBody>
      </p:sp>
      <p:sp>
        <p:nvSpPr>
          <p:cNvPr id="3" name="Marcador de contenido 2"/>
          <p:cNvSpPr>
            <a:spLocks noGrp="1"/>
          </p:cNvSpPr>
          <p:nvPr>
            <p:ph idx="1"/>
          </p:nvPr>
        </p:nvSpPr>
        <p:spPr>
          <a:xfrm>
            <a:off x="1571625" y="1328738"/>
            <a:ext cx="9932987" cy="3777622"/>
          </a:xfrm>
        </p:spPr>
        <p:txBody>
          <a:bodyPr/>
          <a:lstStyle/>
          <a:p>
            <a:r>
              <a:rPr lang="es-ES" dirty="0" smtClean="0">
                <a:solidFill>
                  <a:schemeClr val="tx1"/>
                </a:solidFill>
              </a:rPr>
              <a:t>Ejemplo 1:</a:t>
            </a:r>
          </a:p>
          <a:p>
            <a:pPr algn="just"/>
            <a:r>
              <a:rPr lang="es-AR" dirty="0">
                <a:solidFill>
                  <a:schemeClr val="tx1"/>
                </a:solidFill>
              </a:rPr>
              <a:t>Un lingote de 0.050 0 kg de metal se calienta a 200.0°C y después se deja caer en un calorímetro que contiene 0.400 kg de agua inicialmente a 20.0°C. La temperatura de equilibrio final del sistema mezclado es 22.4°C. Encuentre el calor específico del metal</a:t>
            </a:r>
          </a:p>
        </p:txBody>
      </p:sp>
      <p:pic>
        <p:nvPicPr>
          <p:cNvPr id="4" name="Imagen 3"/>
          <p:cNvPicPr>
            <a:picLocks noChangeAspect="1"/>
          </p:cNvPicPr>
          <p:nvPr/>
        </p:nvPicPr>
        <p:blipFill>
          <a:blip r:embed="rId2"/>
          <a:stretch>
            <a:fillRect/>
          </a:stretch>
        </p:blipFill>
        <p:spPr>
          <a:xfrm>
            <a:off x="3181130" y="3217549"/>
            <a:ext cx="3669379" cy="511489"/>
          </a:xfrm>
          <a:prstGeom prst="rect">
            <a:avLst/>
          </a:prstGeom>
        </p:spPr>
      </p:pic>
      <p:pic>
        <p:nvPicPr>
          <p:cNvPr id="5" name="Imagen 4"/>
          <p:cNvPicPr>
            <a:picLocks noChangeAspect="1"/>
          </p:cNvPicPr>
          <p:nvPr/>
        </p:nvPicPr>
        <p:blipFill>
          <a:blip r:embed="rId3"/>
          <a:stretch>
            <a:fillRect/>
          </a:stretch>
        </p:blipFill>
        <p:spPr>
          <a:xfrm>
            <a:off x="3181130" y="3998541"/>
            <a:ext cx="4363059" cy="419158"/>
          </a:xfrm>
          <a:prstGeom prst="rect">
            <a:avLst/>
          </a:prstGeom>
        </p:spPr>
      </p:pic>
      <p:pic>
        <p:nvPicPr>
          <p:cNvPr id="6" name="Imagen 5"/>
          <p:cNvPicPr>
            <a:picLocks noChangeAspect="1"/>
          </p:cNvPicPr>
          <p:nvPr/>
        </p:nvPicPr>
        <p:blipFill>
          <a:blip r:embed="rId4"/>
          <a:stretch>
            <a:fillRect/>
          </a:stretch>
        </p:blipFill>
        <p:spPr>
          <a:xfrm>
            <a:off x="3200131" y="4779085"/>
            <a:ext cx="3848637" cy="447737"/>
          </a:xfrm>
          <a:prstGeom prst="rect">
            <a:avLst/>
          </a:prstGeom>
        </p:spPr>
      </p:pic>
      <p:pic>
        <p:nvPicPr>
          <p:cNvPr id="7" name="Imagen 6"/>
          <p:cNvPicPr>
            <a:picLocks noChangeAspect="1"/>
          </p:cNvPicPr>
          <p:nvPr/>
        </p:nvPicPr>
        <p:blipFill>
          <a:blip r:embed="rId5"/>
          <a:stretch>
            <a:fillRect/>
          </a:stretch>
        </p:blipFill>
        <p:spPr>
          <a:xfrm>
            <a:off x="3200131" y="5553777"/>
            <a:ext cx="1848108" cy="514422"/>
          </a:xfrm>
          <a:prstGeom prst="rect">
            <a:avLst/>
          </a:prstGeom>
        </p:spPr>
      </p:pic>
    </p:spTree>
    <p:extLst>
      <p:ext uri="{BB962C8B-B14F-4D97-AF65-F5344CB8AC3E}">
        <p14:creationId xmlns:p14="http://schemas.microsoft.com/office/powerpoint/2010/main" val="172355976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41463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589212" y="3028790"/>
            <a:ext cx="8915399" cy="1126283"/>
          </a:xfrm>
        </p:spPr>
        <p:txBody>
          <a:bodyPr/>
          <a:lstStyle/>
          <a:p>
            <a:endParaRPr lang="es-AR" dirty="0"/>
          </a:p>
        </p:txBody>
      </p:sp>
      <p:pic>
        <p:nvPicPr>
          <p:cNvPr id="4" name="Imagen 3"/>
          <p:cNvPicPr>
            <a:picLocks noChangeAspect="1"/>
          </p:cNvPicPr>
          <p:nvPr/>
        </p:nvPicPr>
        <p:blipFill>
          <a:blip r:embed="rId2"/>
          <a:stretch>
            <a:fillRect/>
          </a:stretch>
        </p:blipFill>
        <p:spPr>
          <a:xfrm>
            <a:off x="2004087" y="1639033"/>
            <a:ext cx="9951619" cy="4280504"/>
          </a:xfrm>
          <a:prstGeom prst="rect">
            <a:avLst/>
          </a:prstGeom>
        </p:spPr>
      </p:pic>
      <p:sp>
        <p:nvSpPr>
          <p:cNvPr id="5" name="Título 1"/>
          <p:cNvSpPr>
            <a:spLocks noGrp="1"/>
          </p:cNvSpPr>
          <p:nvPr>
            <p:ph type="ctrTitle"/>
          </p:nvPr>
        </p:nvSpPr>
        <p:spPr>
          <a:xfrm>
            <a:off x="2004087" y="349250"/>
            <a:ext cx="9500526" cy="915076"/>
          </a:xfrm>
        </p:spPr>
        <p:txBody>
          <a:bodyPr>
            <a:normAutofit/>
          </a:bodyPr>
          <a:lstStyle/>
          <a:p>
            <a:r>
              <a:rPr lang="es-AR" sz="4000" dirty="0" smtClean="0"/>
              <a:t>Calores específicos</a:t>
            </a:r>
            <a:endParaRPr lang="es-AR" sz="4000" dirty="0"/>
          </a:p>
        </p:txBody>
      </p:sp>
      <mc:AlternateContent xmlns:mc="http://schemas.openxmlformats.org/markup-compatibility/2006" xmlns:p14="http://schemas.microsoft.com/office/powerpoint/2010/main">
        <mc:Choice Requires="p14">
          <p:contentPart p14:bwMode="auto" r:id="rId3">
            <p14:nvContentPartPr>
              <p14:cNvPr id="2" name="Entrada de lápiz 1"/>
              <p14:cNvContentPartPr/>
              <p14:nvPr/>
            </p14:nvContentPartPr>
            <p14:xfrm>
              <a:off x="6924600" y="3219480"/>
              <a:ext cx="360" cy="360"/>
            </p14:xfrm>
          </p:contentPart>
        </mc:Choice>
        <mc:Fallback xmlns="">
          <p:pic>
            <p:nvPicPr>
              <p:cNvPr id="2" name="Entrada de lápiz 1"/>
              <p:cNvPicPr/>
              <p:nvPr/>
            </p:nvPicPr>
            <p:blipFill>
              <a:blip r:embed="rId4"/>
              <a:stretch>
                <a:fillRect/>
              </a:stretch>
            </p:blipFill>
            <p:spPr>
              <a:xfrm>
                <a:off x="6915240" y="3210120"/>
                <a:ext cx="19080" cy="19080"/>
              </a:xfrm>
              <a:prstGeom prst="rect">
                <a:avLst/>
              </a:prstGeom>
            </p:spPr>
          </p:pic>
        </mc:Fallback>
      </mc:AlternateContent>
    </p:spTree>
    <p:extLst>
      <p:ext uri="{BB962C8B-B14F-4D97-AF65-F5344CB8AC3E}">
        <p14:creationId xmlns:p14="http://schemas.microsoft.com/office/powerpoint/2010/main" val="274806911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610604"/>
            <a:ext cx="8915399" cy="794084"/>
          </a:xfrm>
        </p:spPr>
        <p:txBody>
          <a:bodyPr>
            <a:normAutofit/>
          </a:bodyPr>
          <a:lstStyle/>
          <a:p>
            <a:r>
              <a:rPr lang="es-ES" sz="4000" dirty="0"/>
              <a:t>Formas de transmisión del </a:t>
            </a:r>
            <a:r>
              <a:rPr lang="es-ES" sz="4000" dirty="0" smtClean="0"/>
              <a:t>calor </a:t>
            </a:r>
            <a:r>
              <a:rPr lang="es-ES" sz="1400" dirty="0" smtClean="0"/>
              <a:t>(600)</a:t>
            </a:r>
            <a:endParaRPr lang="es-AR" sz="4000" dirty="0"/>
          </a:p>
        </p:txBody>
      </p:sp>
      <p:sp>
        <p:nvSpPr>
          <p:cNvPr id="3" name="Subtítulo 2"/>
          <p:cNvSpPr>
            <a:spLocks noGrp="1"/>
          </p:cNvSpPr>
          <p:nvPr>
            <p:ph type="subTitle" idx="1"/>
          </p:nvPr>
        </p:nvSpPr>
        <p:spPr>
          <a:xfrm>
            <a:off x="2589213" y="1883784"/>
            <a:ext cx="8915399" cy="4234274"/>
          </a:xfrm>
        </p:spPr>
        <p:txBody>
          <a:bodyPr>
            <a:normAutofit/>
          </a:bodyPr>
          <a:lstStyle/>
          <a:p>
            <a:pPr algn="just"/>
            <a:r>
              <a:rPr lang="es-AR" sz="2000" b="1" dirty="0">
                <a:solidFill>
                  <a:schemeClr val="tx1"/>
                </a:solidFill>
                <a:latin typeface="Arial" panose="020B0604020202020204" pitchFamily="34" charset="0"/>
                <a:cs typeface="Arial" panose="020B0604020202020204" pitchFamily="34" charset="0"/>
              </a:rPr>
              <a:t>Conducción térmica </a:t>
            </a:r>
            <a:endParaRPr lang="es-AR" sz="2000" b="1"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El </a:t>
            </a:r>
            <a:r>
              <a:rPr lang="es-AR" sz="2000" dirty="0">
                <a:solidFill>
                  <a:schemeClr val="tx1"/>
                </a:solidFill>
                <a:latin typeface="Arial" panose="020B0604020202020204" pitchFamily="34" charset="0"/>
                <a:cs typeface="Arial" panose="020B0604020202020204" pitchFamily="34" charset="0"/>
              </a:rPr>
              <a:t>proceso de transferencia de energía por calor también se llama conducción o conducción térmica. </a:t>
            </a:r>
            <a:endParaRPr lang="es-AR" sz="2000"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En </a:t>
            </a:r>
            <a:r>
              <a:rPr lang="es-AR" sz="2000" dirty="0">
                <a:solidFill>
                  <a:schemeClr val="tx1"/>
                </a:solidFill>
                <a:latin typeface="Arial" panose="020B0604020202020204" pitchFamily="34" charset="0"/>
                <a:cs typeface="Arial" panose="020B0604020202020204" pitchFamily="34" charset="0"/>
              </a:rPr>
              <a:t>este proceso, la transferencia se representa a escala atómica como un intercambio de energía cinética entre partículas microscópicas (moléculas, átomos y electrones libres) en el que las partículas menos energéticas ganan energía en colisiones con partículas más </a:t>
            </a:r>
            <a:r>
              <a:rPr lang="es-AR" sz="2000" dirty="0" smtClean="0">
                <a:solidFill>
                  <a:schemeClr val="tx1"/>
                </a:solidFill>
                <a:latin typeface="Arial" panose="020B0604020202020204" pitchFamily="34" charset="0"/>
                <a:cs typeface="Arial" panose="020B0604020202020204" pitchFamily="34" charset="0"/>
              </a:rPr>
              <a:t>energéticas</a:t>
            </a:r>
          </a:p>
          <a:p>
            <a:pPr marL="342900" indent="-34290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La rapidez de conducción térmica depende de las propiedades de la sustancia a calentar</a:t>
            </a:r>
            <a:r>
              <a:rPr lang="es-AR" sz="2000" dirty="0" smtClean="0">
                <a:solidFill>
                  <a:schemeClr val="tx1"/>
                </a:solidFill>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La conducción se presenta sólo si hay una diferencia en temperatura entre dos partes del medio de conducción</a:t>
            </a:r>
          </a:p>
        </p:txBody>
      </p:sp>
    </p:spTree>
    <p:extLst>
      <p:ext uri="{BB962C8B-B14F-4D97-AF65-F5344CB8AC3E}">
        <p14:creationId xmlns:p14="http://schemas.microsoft.com/office/powerpoint/2010/main" val="254083208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121442" y="830342"/>
            <a:ext cx="6959767" cy="697843"/>
          </a:xfrm>
        </p:spPr>
        <p:txBody>
          <a:bodyPr>
            <a:normAutofit fontScale="90000"/>
          </a:bodyPr>
          <a:lstStyle/>
          <a:p>
            <a:r>
              <a:rPr lang="es-AR" sz="4000" dirty="0">
                <a:solidFill>
                  <a:schemeClr val="tx1"/>
                </a:solidFill>
                <a:latin typeface="Arial" panose="020B0604020202020204" pitchFamily="34" charset="0"/>
                <a:cs typeface="Arial" panose="020B0604020202020204" pitchFamily="34" charset="0"/>
              </a:rPr>
              <a:t>Conducción térmica </a:t>
            </a:r>
            <a:endParaRPr lang="es-AR" sz="4000" dirty="0"/>
          </a:p>
        </p:txBody>
      </p:sp>
      <p:pic>
        <p:nvPicPr>
          <p:cNvPr id="4" name="Imagen 3"/>
          <p:cNvPicPr>
            <a:picLocks noChangeAspect="1"/>
          </p:cNvPicPr>
          <p:nvPr/>
        </p:nvPicPr>
        <p:blipFill>
          <a:blip r:embed="rId2"/>
          <a:stretch>
            <a:fillRect/>
          </a:stretch>
        </p:blipFill>
        <p:spPr>
          <a:xfrm>
            <a:off x="2532061" y="2635335"/>
            <a:ext cx="2781300" cy="3609975"/>
          </a:xfrm>
          <a:prstGeom prst="rect">
            <a:avLst/>
          </a:prstGeom>
        </p:spPr>
      </p:pic>
      <p:grpSp>
        <p:nvGrpSpPr>
          <p:cNvPr id="10" name="Grupo 9"/>
          <p:cNvGrpSpPr/>
          <p:nvPr/>
        </p:nvGrpSpPr>
        <p:grpSpPr>
          <a:xfrm>
            <a:off x="3642974" y="3221127"/>
            <a:ext cx="399637" cy="1952543"/>
            <a:chOff x="3642974" y="3221127"/>
            <a:chExt cx="399637" cy="1952543"/>
          </a:xfrm>
        </p:grpSpPr>
        <p:sp>
          <p:nvSpPr>
            <p:cNvPr id="5" name="Flecha derecha 4"/>
            <p:cNvSpPr/>
            <p:nvPr/>
          </p:nvSpPr>
          <p:spPr>
            <a:xfrm>
              <a:off x="3645568" y="4018547"/>
              <a:ext cx="397043" cy="3489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Flecha derecha 5"/>
            <p:cNvSpPr/>
            <p:nvPr/>
          </p:nvSpPr>
          <p:spPr>
            <a:xfrm>
              <a:off x="3642975" y="4440323"/>
              <a:ext cx="397043" cy="3489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Flecha derecha 6"/>
            <p:cNvSpPr/>
            <p:nvPr/>
          </p:nvSpPr>
          <p:spPr>
            <a:xfrm>
              <a:off x="3642975" y="3606473"/>
              <a:ext cx="397043" cy="3489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Flecha derecha 7"/>
            <p:cNvSpPr/>
            <p:nvPr/>
          </p:nvSpPr>
          <p:spPr>
            <a:xfrm>
              <a:off x="3642974" y="4824754"/>
              <a:ext cx="397043" cy="3489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Flecha derecha 8"/>
            <p:cNvSpPr/>
            <p:nvPr/>
          </p:nvSpPr>
          <p:spPr>
            <a:xfrm>
              <a:off x="3642974" y="3221127"/>
              <a:ext cx="397043" cy="3489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pic>
        <p:nvPicPr>
          <p:cNvPr id="12" name="Imagen 11"/>
          <p:cNvPicPr>
            <a:picLocks noChangeAspect="1"/>
          </p:cNvPicPr>
          <p:nvPr/>
        </p:nvPicPr>
        <p:blipFill>
          <a:blip r:embed="rId3"/>
          <a:stretch>
            <a:fillRect/>
          </a:stretch>
        </p:blipFill>
        <p:spPr>
          <a:xfrm>
            <a:off x="5536851" y="2735284"/>
            <a:ext cx="2610214" cy="971686"/>
          </a:xfrm>
          <a:prstGeom prst="rect">
            <a:avLst/>
          </a:prstGeom>
        </p:spPr>
      </p:pic>
      <p:pic>
        <p:nvPicPr>
          <p:cNvPr id="13" name="Imagen 12"/>
          <p:cNvPicPr>
            <a:picLocks noChangeAspect="1"/>
          </p:cNvPicPr>
          <p:nvPr/>
        </p:nvPicPr>
        <p:blipFill>
          <a:blip r:embed="rId4"/>
          <a:stretch>
            <a:fillRect/>
          </a:stretch>
        </p:blipFill>
        <p:spPr>
          <a:xfrm>
            <a:off x="5667746" y="3780931"/>
            <a:ext cx="1867161" cy="914528"/>
          </a:xfrm>
          <a:prstGeom prst="rect">
            <a:avLst/>
          </a:prstGeom>
        </p:spPr>
      </p:pic>
    </p:spTree>
    <p:extLst>
      <p:ext uri="{BB962C8B-B14F-4D97-AF65-F5344CB8AC3E}">
        <p14:creationId xmlns:p14="http://schemas.microsoft.com/office/powerpoint/2010/main" val="301665027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000"/>
                                        <p:tgtEl>
                                          <p:spTgt spid="10"/>
                                        </p:tgtEl>
                                      </p:cBhvr>
                                    </p:animEffect>
                                  </p:childTnLst>
                                </p:cTn>
                              </p:par>
                            </p:childTnLst>
                          </p:cTn>
                        </p:par>
                        <p:par>
                          <p:cTn id="13" fill="hold">
                            <p:stCondLst>
                              <p:cond delay="1000"/>
                            </p:stCondLst>
                            <p:childTnLst>
                              <p:par>
                                <p:cTn id="14" presetID="22" presetClass="exit" presetSubtype="8" fill="hold" nodeType="afterEffect">
                                  <p:stCondLst>
                                    <p:cond delay="0"/>
                                  </p:stCondLst>
                                  <p:childTnLst>
                                    <p:animEffect transition="out" filter="wipe(left)">
                                      <p:cBhvr>
                                        <p:cTn id="15" dur="1000"/>
                                        <p:tgtEl>
                                          <p:spTgt spid="10"/>
                                        </p:tgtEl>
                                      </p:cBhvr>
                                    </p:animEffect>
                                    <p:set>
                                      <p:cBhvr>
                                        <p:cTn id="16" dur="1" fill="hold">
                                          <p:stCondLst>
                                            <p:cond delay="999"/>
                                          </p:stCondLst>
                                        </p:cTn>
                                        <p:tgtEl>
                                          <p:spTgt spid="10"/>
                                        </p:tgtEl>
                                        <p:attrNameLst>
                                          <p:attrName>style.visibility</p:attrName>
                                        </p:attrNameLst>
                                      </p:cBhvr>
                                      <p:to>
                                        <p:strVal val="hidden"/>
                                      </p:to>
                                    </p:se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1000"/>
                                        <p:tgtEl>
                                          <p:spTgt spid="10"/>
                                        </p:tgtEl>
                                      </p:cBhvr>
                                    </p:animEffect>
                                  </p:childTnLst>
                                </p:cTn>
                              </p:par>
                            </p:childTnLst>
                          </p:cTn>
                        </p:par>
                        <p:par>
                          <p:cTn id="21" fill="hold">
                            <p:stCondLst>
                              <p:cond delay="3000"/>
                            </p:stCondLst>
                            <p:childTnLst>
                              <p:par>
                                <p:cTn id="22" presetID="22" presetClass="exit" presetSubtype="8" fill="hold" nodeType="afterEffect">
                                  <p:stCondLst>
                                    <p:cond delay="0"/>
                                  </p:stCondLst>
                                  <p:childTnLst>
                                    <p:animEffect transition="out" filter="wipe(left)">
                                      <p:cBhvr>
                                        <p:cTn id="23" dur="1000"/>
                                        <p:tgtEl>
                                          <p:spTgt spid="10"/>
                                        </p:tgtEl>
                                      </p:cBhvr>
                                    </p:animEffect>
                                    <p:set>
                                      <p:cBhvr>
                                        <p:cTn id="24" dur="1" fill="hold">
                                          <p:stCondLst>
                                            <p:cond delay="999"/>
                                          </p:stCondLst>
                                        </p:cTn>
                                        <p:tgtEl>
                                          <p:spTgt spid="10"/>
                                        </p:tgtEl>
                                        <p:attrNameLst>
                                          <p:attrName>style.visibility</p:attrName>
                                        </p:attrNameLst>
                                      </p:cBhvr>
                                      <p:to>
                                        <p:strVal val="hidden"/>
                                      </p:to>
                                    </p:set>
                                  </p:childTnLst>
                                </p:cTn>
                              </p:par>
                            </p:childTnLst>
                          </p:cTn>
                        </p:par>
                        <p:par>
                          <p:cTn id="25" fill="hold">
                            <p:stCondLst>
                              <p:cond delay="4000"/>
                            </p:stCondLst>
                            <p:childTnLst>
                              <p:par>
                                <p:cTn id="26" presetID="22" presetClass="entr" presetSubtype="8"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10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4824371" y="1745890"/>
            <a:ext cx="2038635" cy="743054"/>
          </a:xfrm>
          <a:prstGeom prst="rect">
            <a:avLst/>
          </a:prstGeom>
        </p:spPr>
      </p:pic>
      <p:pic>
        <p:nvPicPr>
          <p:cNvPr id="5" name="Imagen 4"/>
          <p:cNvPicPr>
            <a:picLocks noChangeAspect="1"/>
          </p:cNvPicPr>
          <p:nvPr/>
        </p:nvPicPr>
        <p:blipFill>
          <a:blip r:embed="rId3"/>
          <a:stretch>
            <a:fillRect/>
          </a:stretch>
        </p:blipFill>
        <p:spPr>
          <a:xfrm>
            <a:off x="1733798" y="1318002"/>
            <a:ext cx="2436772" cy="2929602"/>
          </a:xfrm>
          <a:prstGeom prst="rect">
            <a:avLst/>
          </a:prstGeom>
        </p:spPr>
      </p:pic>
      <p:pic>
        <p:nvPicPr>
          <p:cNvPr id="7" name="Imagen 6"/>
          <p:cNvPicPr>
            <a:picLocks noChangeAspect="1"/>
          </p:cNvPicPr>
          <p:nvPr/>
        </p:nvPicPr>
        <p:blipFill>
          <a:blip r:embed="rId4"/>
          <a:stretch>
            <a:fillRect/>
          </a:stretch>
        </p:blipFill>
        <p:spPr>
          <a:xfrm>
            <a:off x="4824371" y="2531812"/>
            <a:ext cx="2086266" cy="743054"/>
          </a:xfrm>
          <a:prstGeom prst="rect">
            <a:avLst/>
          </a:prstGeom>
        </p:spPr>
      </p:pic>
      <p:pic>
        <p:nvPicPr>
          <p:cNvPr id="8" name="Imagen 7"/>
          <p:cNvPicPr>
            <a:picLocks noChangeAspect="1"/>
          </p:cNvPicPr>
          <p:nvPr/>
        </p:nvPicPr>
        <p:blipFill>
          <a:blip r:embed="rId5"/>
          <a:stretch>
            <a:fillRect/>
          </a:stretch>
        </p:blipFill>
        <p:spPr>
          <a:xfrm>
            <a:off x="7683192" y="2055496"/>
            <a:ext cx="3210373" cy="866896"/>
          </a:xfrm>
          <a:prstGeom prst="rect">
            <a:avLst/>
          </a:prstGeom>
        </p:spPr>
      </p:pic>
      <p:pic>
        <p:nvPicPr>
          <p:cNvPr id="9" name="Imagen 8"/>
          <p:cNvPicPr>
            <a:picLocks noChangeAspect="1"/>
          </p:cNvPicPr>
          <p:nvPr/>
        </p:nvPicPr>
        <p:blipFill>
          <a:blip r:embed="rId6"/>
          <a:stretch>
            <a:fillRect/>
          </a:stretch>
        </p:blipFill>
        <p:spPr>
          <a:xfrm>
            <a:off x="4924574" y="3686279"/>
            <a:ext cx="2086266" cy="704948"/>
          </a:xfrm>
          <a:prstGeom prst="rect">
            <a:avLst/>
          </a:prstGeom>
        </p:spPr>
      </p:pic>
      <p:pic>
        <p:nvPicPr>
          <p:cNvPr id="10" name="Imagen 9"/>
          <p:cNvPicPr>
            <a:picLocks noChangeAspect="1"/>
          </p:cNvPicPr>
          <p:nvPr/>
        </p:nvPicPr>
        <p:blipFill>
          <a:blip r:embed="rId7"/>
          <a:stretch>
            <a:fillRect/>
          </a:stretch>
        </p:blipFill>
        <p:spPr>
          <a:xfrm>
            <a:off x="7195955" y="3542604"/>
            <a:ext cx="2629267" cy="866896"/>
          </a:xfrm>
          <a:prstGeom prst="rect">
            <a:avLst/>
          </a:prstGeom>
        </p:spPr>
      </p:pic>
      <p:pic>
        <p:nvPicPr>
          <p:cNvPr id="11" name="Imagen 10"/>
          <p:cNvPicPr>
            <a:picLocks noChangeAspect="1"/>
          </p:cNvPicPr>
          <p:nvPr/>
        </p:nvPicPr>
        <p:blipFill>
          <a:blip r:embed="rId8"/>
          <a:stretch>
            <a:fillRect/>
          </a:stretch>
        </p:blipFill>
        <p:spPr>
          <a:xfrm>
            <a:off x="10010338" y="3542604"/>
            <a:ext cx="1933845" cy="952633"/>
          </a:xfrm>
          <a:prstGeom prst="rect">
            <a:avLst/>
          </a:prstGeom>
        </p:spPr>
      </p:pic>
      <p:sp>
        <p:nvSpPr>
          <p:cNvPr id="12" name="Título 1"/>
          <p:cNvSpPr txBox="1">
            <a:spLocks/>
          </p:cNvSpPr>
          <p:nvPr/>
        </p:nvSpPr>
        <p:spPr>
          <a:xfrm>
            <a:off x="2428792" y="397043"/>
            <a:ext cx="9515391" cy="886326"/>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4000" dirty="0" smtClean="0"/>
              <a:t>Formas de transmisión del calor</a:t>
            </a:r>
            <a:endParaRPr lang="es-AR" sz="4000" dirty="0"/>
          </a:p>
        </p:txBody>
      </p:sp>
      <p:pic>
        <p:nvPicPr>
          <p:cNvPr id="2" name="Imagen 1"/>
          <p:cNvPicPr>
            <a:picLocks noChangeAspect="1"/>
          </p:cNvPicPr>
          <p:nvPr/>
        </p:nvPicPr>
        <p:blipFill>
          <a:blip r:embed="rId9"/>
          <a:stretch>
            <a:fillRect/>
          </a:stretch>
        </p:blipFill>
        <p:spPr>
          <a:xfrm>
            <a:off x="1733798" y="4599732"/>
            <a:ext cx="2767114" cy="2121701"/>
          </a:xfrm>
          <a:prstGeom prst="rect">
            <a:avLst/>
          </a:prstGeom>
        </p:spPr>
      </p:pic>
      <p:pic>
        <p:nvPicPr>
          <p:cNvPr id="3" name="Imagen 2"/>
          <p:cNvPicPr>
            <a:picLocks noChangeAspect="1"/>
          </p:cNvPicPr>
          <p:nvPr/>
        </p:nvPicPr>
        <p:blipFill>
          <a:blip r:embed="rId10"/>
          <a:stretch>
            <a:fillRect/>
          </a:stretch>
        </p:blipFill>
        <p:spPr>
          <a:xfrm>
            <a:off x="4824371" y="5181627"/>
            <a:ext cx="5362560" cy="1104951"/>
          </a:xfrm>
          <a:prstGeom prst="rect">
            <a:avLst/>
          </a:prstGeom>
        </p:spPr>
      </p:pic>
    </p:spTree>
    <p:extLst>
      <p:ext uri="{BB962C8B-B14F-4D97-AF65-F5344CB8AC3E}">
        <p14:creationId xmlns:p14="http://schemas.microsoft.com/office/powerpoint/2010/main" val="295764599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655805" y="694520"/>
            <a:ext cx="5760554" cy="3105584"/>
          </a:xfrm>
          <a:prstGeom prst="rect">
            <a:avLst/>
          </a:prstGeom>
        </p:spPr>
      </p:pic>
      <p:pic>
        <p:nvPicPr>
          <p:cNvPr id="3" name="Imagen 2"/>
          <p:cNvPicPr>
            <a:picLocks noChangeAspect="1"/>
          </p:cNvPicPr>
          <p:nvPr/>
        </p:nvPicPr>
        <p:blipFill>
          <a:blip r:embed="rId3"/>
          <a:stretch>
            <a:fillRect/>
          </a:stretch>
        </p:blipFill>
        <p:spPr>
          <a:xfrm>
            <a:off x="2987943" y="4094759"/>
            <a:ext cx="8140024" cy="1546019"/>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p14:cNvContentPartPr/>
              <p14:nvPr/>
            </p14:nvContentPartPr>
            <p14:xfrm>
              <a:off x="9468000" y="2466720"/>
              <a:ext cx="360" cy="360"/>
            </p14:xfrm>
          </p:contentPart>
        </mc:Choice>
        <mc:Fallback xmlns="">
          <p:pic>
            <p:nvPicPr>
              <p:cNvPr id="4" name="Entrada de lápiz 3"/>
              <p:cNvPicPr/>
              <p:nvPr/>
            </p:nvPicPr>
            <p:blipFill>
              <a:blip r:embed="rId5"/>
              <a:stretch>
                <a:fillRect/>
              </a:stretch>
            </p:blipFill>
            <p:spPr>
              <a:xfrm>
                <a:off x="9458640" y="2457360"/>
                <a:ext cx="19080" cy="19080"/>
              </a:xfrm>
              <a:prstGeom prst="rect">
                <a:avLst/>
              </a:prstGeom>
            </p:spPr>
          </p:pic>
        </mc:Fallback>
      </mc:AlternateContent>
    </p:spTree>
    <p:extLst>
      <p:ext uri="{BB962C8B-B14F-4D97-AF65-F5344CB8AC3E}">
        <p14:creationId xmlns:p14="http://schemas.microsoft.com/office/powerpoint/2010/main" val="250922329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78537" y="709835"/>
            <a:ext cx="8911687" cy="718915"/>
          </a:xfrm>
        </p:spPr>
        <p:txBody>
          <a:bodyPr/>
          <a:lstStyle/>
          <a:p>
            <a:r>
              <a:rPr lang="es-ES" dirty="0"/>
              <a:t>Formas de transmisión del </a:t>
            </a:r>
            <a:r>
              <a:rPr lang="es-ES" dirty="0" smtClean="0"/>
              <a:t>calor</a:t>
            </a:r>
            <a:endParaRPr lang="es-AR" dirty="0"/>
          </a:p>
        </p:txBody>
      </p:sp>
      <p:sp>
        <p:nvSpPr>
          <p:cNvPr id="3" name="Marcador de contenido 2"/>
          <p:cNvSpPr>
            <a:spLocks noGrp="1"/>
          </p:cNvSpPr>
          <p:nvPr>
            <p:ph idx="1"/>
          </p:nvPr>
        </p:nvSpPr>
        <p:spPr>
          <a:xfrm>
            <a:off x="1543051" y="1428750"/>
            <a:ext cx="9947274" cy="3777622"/>
          </a:xfrm>
        </p:spPr>
        <p:txBody>
          <a:bodyPr/>
          <a:lstStyle/>
          <a:p>
            <a:r>
              <a:rPr lang="es-ES" dirty="0" smtClean="0"/>
              <a:t>Ejercicio 1:</a:t>
            </a:r>
            <a:endParaRPr lang="es-AR" dirty="0" smtClean="0"/>
          </a:p>
          <a:p>
            <a:pPr algn="just"/>
            <a:r>
              <a:rPr lang="es-AR" dirty="0" smtClean="0"/>
              <a:t>Considere </a:t>
            </a:r>
            <a:r>
              <a:rPr lang="es-AR" dirty="0"/>
              <a:t>una pared gruesa de 3 m de altura, 5 de ancho y 0,3 m de espesor, cuya conductividad </a:t>
            </a:r>
            <a:r>
              <a:rPr lang="es-AR" dirty="0" smtClean="0"/>
              <a:t>térmica </a:t>
            </a:r>
            <a:r>
              <a:rPr lang="es-AR" dirty="0"/>
              <a:t>es </a:t>
            </a:r>
            <a:r>
              <a:rPr lang="es-AR" dirty="0" smtClean="0"/>
              <a:t>k = 0,9 </a:t>
            </a:r>
            <a:r>
              <a:rPr lang="es-AR" dirty="0"/>
              <a:t>W/</a:t>
            </a:r>
            <a:r>
              <a:rPr lang="es-AR" dirty="0" err="1"/>
              <a:t>m·ºC</a:t>
            </a:r>
            <a:r>
              <a:rPr lang="es-AR" dirty="0"/>
              <a:t>. Cierto día, se </a:t>
            </a:r>
            <a:r>
              <a:rPr lang="es-AR" dirty="0" smtClean="0"/>
              <a:t>miden </a:t>
            </a:r>
            <a:r>
              <a:rPr lang="es-AR" dirty="0"/>
              <a:t>temperaturas sobre las superficies interior y exterior </a:t>
            </a:r>
            <a:r>
              <a:rPr lang="es-AR" dirty="0" smtClean="0"/>
              <a:t>de </a:t>
            </a:r>
            <a:r>
              <a:rPr lang="es-AR" dirty="0"/>
              <a:t>la pared de 16ºC y 2ºC, respectivamente. Determine la razón de pérdida de calor a través de la </a:t>
            </a:r>
            <a:r>
              <a:rPr lang="es-AR" dirty="0" smtClean="0"/>
              <a:t>pared en </a:t>
            </a:r>
            <a:r>
              <a:rPr lang="es-AR" dirty="0"/>
              <a:t>ese día</a:t>
            </a:r>
          </a:p>
          <a:p>
            <a:endParaRPr lang="es-AR" dirty="0"/>
          </a:p>
        </p:txBody>
      </p:sp>
      <p:pic>
        <p:nvPicPr>
          <p:cNvPr id="4" name="Imagen 3"/>
          <p:cNvPicPr>
            <a:picLocks noChangeAspect="1"/>
          </p:cNvPicPr>
          <p:nvPr/>
        </p:nvPicPr>
        <p:blipFill>
          <a:blip r:embed="rId2"/>
          <a:stretch>
            <a:fillRect/>
          </a:stretch>
        </p:blipFill>
        <p:spPr>
          <a:xfrm>
            <a:off x="1778537" y="3228711"/>
            <a:ext cx="2079088" cy="2468916"/>
          </a:xfrm>
          <a:prstGeom prst="rect">
            <a:avLst/>
          </a:prstGeom>
        </p:spPr>
      </p:pic>
      <p:pic>
        <p:nvPicPr>
          <p:cNvPr id="5" name="Imagen 4"/>
          <p:cNvPicPr>
            <a:picLocks noChangeAspect="1"/>
          </p:cNvPicPr>
          <p:nvPr/>
        </p:nvPicPr>
        <p:blipFill>
          <a:blip r:embed="rId3"/>
          <a:stretch>
            <a:fillRect/>
          </a:stretch>
        </p:blipFill>
        <p:spPr>
          <a:xfrm>
            <a:off x="4481783" y="3088007"/>
            <a:ext cx="3458058" cy="619211"/>
          </a:xfrm>
          <a:prstGeom prst="rect">
            <a:avLst/>
          </a:prstGeom>
        </p:spPr>
      </p:pic>
      <p:pic>
        <p:nvPicPr>
          <p:cNvPr id="6" name="Imagen 5"/>
          <p:cNvPicPr>
            <a:picLocks noChangeAspect="1"/>
          </p:cNvPicPr>
          <p:nvPr/>
        </p:nvPicPr>
        <p:blipFill>
          <a:blip r:embed="rId4"/>
          <a:stretch>
            <a:fillRect/>
          </a:stretch>
        </p:blipFill>
        <p:spPr>
          <a:xfrm>
            <a:off x="4481783" y="3756173"/>
            <a:ext cx="4134427" cy="504895"/>
          </a:xfrm>
          <a:prstGeom prst="rect">
            <a:avLst/>
          </a:prstGeom>
        </p:spPr>
      </p:pic>
      <p:pic>
        <p:nvPicPr>
          <p:cNvPr id="7" name="Imagen 6"/>
          <p:cNvPicPr>
            <a:picLocks noChangeAspect="1"/>
          </p:cNvPicPr>
          <p:nvPr/>
        </p:nvPicPr>
        <p:blipFill>
          <a:blip r:embed="rId5"/>
          <a:stretch>
            <a:fillRect/>
          </a:stretch>
        </p:blipFill>
        <p:spPr>
          <a:xfrm>
            <a:off x="4505622" y="4339660"/>
            <a:ext cx="4153480" cy="666843"/>
          </a:xfrm>
          <a:prstGeom prst="rect">
            <a:avLst/>
          </a:prstGeom>
        </p:spPr>
      </p:pic>
      <p:pic>
        <p:nvPicPr>
          <p:cNvPr id="8" name="Imagen 7"/>
          <p:cNvPicPr>
            <a:picLocks noChangeAspect="1"/>
          </p:cNvPicPr>
          <p:nvPr/>
        </p:nvPicPr>
        <p:blipFill>
          <a:blip r:embed="rId6"/>
          <a:stretch>
            <a:fillRect/>
          </a:stretch>
        </p:blipFill>
        <p:spPr>
          <a:xfrm>
            <a:off x="4625549" y="5104289"/>
            <a:ext cx="3048425" cy="695422"/>
          </a:xfrm>
          <a:prstGeom prst="rect">
            <a:avLst/>
          </a:prstGeom>
        </p:spPr>
      </p:pic>
      <p:pic>
        <p:nvPicPr>
          <p:cNvPr id="9" name="Imagen 8"/>
          <p:cNvPicPr>
            <a:picLocks noChangeAspect="1"/>
          </p:cNvPicPr>
          <p:nvPr/>
        </p:nvPicPr>
        <p:blipFill>
          <a:blip r:embed="rId7"/>
          <a:stretch>
            <a:fillRect/>
          </a:stretch>
        </p:blipFill>
        <p:spPr>
          <a:xfrm>
            <a:off x="4641424" y="5897497"/>
            <a:ext cx="3410426" cy="685896"/>
          </a:xfrm>
          <a:prstGeom prst="rect">
            <a:avLst/>
          </a:prstGeom>
        </p:spPr>
      </p:pic>
    </p:spTree>
    <p:extLst>
      <p:ext uri="{BB962C8B-B14F-4D97-AF65-F5344CB8AC3E}">
        <p14:creationId xmlns:p14="http://schemas.microsoft.com/office/powerpoint/2010/main" val="267345271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428876" y="1354320"/>
            <a:ext cx="8502188" cy="5092267"/>
          </a:xfrm>
          <a:prstGeom prst="rect">
            <a:avLst/>
          </a:prstGeom>
        </p:spPr>
      </p:pic>
      <p:sp>
        <p:nvSpPr>
          <p:cNvPr id="3" name="Título 1"/>
          <p:cNvSpPr>
            <a:spLocks noGrp="1"/>
          </p:cNvSpPr>
          <p:nvPr>
            <p:ph type="ctrTitle"/>
          </p:nvPr>
        </p:nvSpPr>
        <p:spPr>
          <a:xfrm>
            <a:off x="2428792" y="397043"/>
            <a:ext cx="9515391" cy="886326"/>
          </a:xfrm>
        </p:spPr>
        <p:txBody>
          <a:bodyPr>
            <a:normAutofit/>
          </a:bodyPr>
          <a:lstStyle/>
          <a:p>
            <a:r>
              <a:rPr lang="es-ES" sz="4000" dirty="0"/>
              <a:t>Formas de transmisión del calor</a:t>
            </a:r>
            <a:endParaRPr lang="es-AR" sz="4000" dirty="0"/>
          </a:p>
        </p:txBody>
      </p:sp>
    </p:spTree>
    <p:extLst>
      <p:ext uri="{BB962C8B-B14F-4D97-AF65-F5344CB8AC3E}">
        <p14:creationId xmlns:p14="http://schemas.microsoft.com/office/powerpoint/2010/main" val="173835189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428792" y="397043"/>
            <a:ext cx="9515391" cy="886326"/>
          </a:xfrm>
        </p:spPr>
        <p:txBody>
          <a:bodyPr>
            <a:normAutofit/>
          </a:bodyPr>
          <a:lstStyle/>
          <a:p>
            <a:r>
              <a:rPr lang="es-ES" sz="4000" dirty="0"/>
              <a:t>Formas de transmisión del calor</a:t>
            </a:r>
            <a:endParaRPr lang="es-AR" sz="4000" dirty="0"/>
          </a:p>
        </p:txBody>
      </p:sp>
      <p:sp>
        <p:nvSpPr>
          <p:cNvPr id="3" name="Subtítulo 2"/>
          <p:cNvSpPr>
            <a:spLocks noGrp="1"/>
          </p:cNvSpPr>
          <p:nvPr>
            <p:ph type="subTitle" idx="1"/>
          </p:nvPr>
        </p:nvSpPr>
        <p:spPr>
          <a:xfrm>
            <a:off x="2428792" y="1437286"/>
            <a:ext cx="8915399" cy="4017029"/>
          </a:xfrm>
        </p:spPr>
        <p:txBody>
          <a:bodyPr>
            <a:normAutofit/>
          </a:bodyPr>
          <a:lstStyle/>
          <a:p>
            <a:r>
              <a:rPr lang="es-AR" sz="2000" b="1" dirty="0">
                <a:solidFill>
                  <a:schemeClr val="tx1"/>
                </a:solidFill>
                <a:latin typeface="Arial" panose="020B0604020202020204" pitchFamily="34" charset="0"/>
                <a:cs typeface="Arial" panose="020B0604020202020204" pitchFamily="34" charset="0"/>
              </a:rPr>
              <a:t>Convección </a:t>
            </a:r>
            <a:endParaRPr lang="es-AR" sz="2000" b="1"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En </a:t>
            </a:r>
            <a:r>
              <a:rPr lang="es-AR" sz="2000" dirty="0">
                <a:solidFill>
                  <a:schemeClr val="tx1"/>
                </a:solidFill>
                <a:latin typeface="Arial" panose="020B0604020202020204" pitchFamily="34" charset="0"/>
                <a:cs typeface="Arial" panose="020B0604020202020204" pitchFamily="34" charset="0"/>
              </a:rPr>
              <a:t>un momento u otro, ha calentado sus manos al mantenerlas sobre una flama abierta. En dicha situación, el aire que está arriba de la flama se caliente y expande. </a:t>
            </a: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Como </a:t>
            </a:r>
            <a:r>
              <a:rPr lang="es-AR" sz="2000" dirty="0">
                <a:solidFill>
                  <a:schemeClr val="tx1"/>
                </a:solidFill>
                <a:latin typeface="Arial" panose="020B0604020202020204" pitchFamily="34" charset="0"/>
                <a:cs typeface="Arial" panose="020B0604020202020204" pitchFamily="34" charset="0"/>
              </a:rPr>
              <a:t>resultado, la densidad de este aire disminuye y el aire se eleva. </a:t>
            </a:r>
            <a:r>
              <a:rPr lang="es-AR" sz="2000" smtClean="0">
                <a:solidFill>
                  <a:schemeClr val="tx1"/>
                </a:solidFill>
                <a:latin typeface="Arial" panose="020B0604020202020204" pitchFamily="34" charset="0"/>
                <a:cs typeface="Arial" panose="020B0604020202020204" pitchFamily="34" charset="0"/>
              </a:rPr>
              <a:t>Se </a:t>
            </a:r>
            <a:r>
              <a:rPr lang="es-AR" sz="2000" dirty="0">
                <a:solidFill>
                  <a:schemeClr val="tx1"/>
                </a:solidFill>
                <a:latin typeface="Arial" panose="020B0604020202020204" pitchFamily="34" charset="0"/>
                <a:cs typeface="Arial" panose="020B0604020202020204" pitchFamily="34" charset="0"/>
              </a:rPr>
              <a:t>dice que la energía transferida por el movimiento de una sustancia caliente se transfiere por convección, el proceso se conoce como </a:t>
            </a:r>
            <a:r>
              <a:rPr lang="es-AR" sz="2000" b="1" i="1" dirty="0">
                <a:solidFill>
                  <a:schemeClr val="tx1"/>
                </a:solidFill>
                <a:latin typeface="Arial" panose="020B0604020202020204" pitchFamily="34" charset="0"/>
                <a:cs typeface="Arial" panose="020B0604020202020204" pitchFamily="34" charset="0"/>
              </a:rPr>
              <a:t>convección natural</a:t>
            </a:r>
            <a:r>
              <a:rPr lang="es-AR" sz="2000" dirty="0">
                <a:solidFill>
                  <a:schemeClr val="tx1"/>
                </a:solidFill>
                <a:latin typeface="Arial" panose="020B0604020202020204" pitchFamily="34" charset="0"/>
                <a:cs typeface="Arial" panose="020B0604020202020204" pitchFamily="34" charset="0"/>
              </a:rPr>
              <a:t>. </a:t>
            </a:r>
            <a:endParaRPr lang="es-AR" sz="2000"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Cuando la sustancia calentada se obliga a moverse mediante un ventilador o bomba, como en algunos sistemas de calefacción de aire caliente y agua caliente, el proceso se llama </a:t>
            </a:r>
            <a:r>
              <a:rPr lang="es-AR" sz="2000" b="1" i="1" dirty="0">
                <a:solidFill>
                  <a:schemeClr val="tx1"/>
                </a:solidFill>
                <a:latin typeface="Arial" panose="020B0604020202020204" pitchFamily="34" charset="0"/>
                <a:cs typeface="Arial" panose="020B0604020202020204" pitchFamily="34" charset="0"/>
              </a:rPr>
              <a:t>convección forzada</a:t>
            </a:r>
          </a:p>
          <a:p>
            <a:pPr marL="342900" indent="-342900" algn="just">
              <a:buFont typeface="Arial" panose="020B0604020202020204" pitchFamily="34" charset="0"/>
              <a:buChar char="•"/>
            </a:pPr>
            <a:endParaRPr lang="es-AR" sz="20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4" name="Entrada de lápiz 3"/>
              <p14:cNvContentPartPr/>
              <p14:nvPr/>
            </p14:nvContentPartPr>
            <p14:xfrm>
              <a:off x="8791560" y="3457440"/>
              <a:ext cx="10080" cy="360"/>
            </p14:xfrm>
          </p:contentPart>
        </mc:Choice>
        <mc:Fallback xmlns="">
          <p:pic>
            <p:nvPicPr>
              <p:cNvPr id="4" name="Entrada de lápiz 3"/>
              <p:cNvPicPr/>
              <p:nvPr/>
            </p:nvPicPr>
            <p:blipFill>
              <a:blip r:embed="rId3"/>
              <a:stretch>
                <a:fillRect/>
              </a:stretch>
            </p:blipFill>
            <p:spPr>
              <a:xfrm>
                <a:off x="8782200" y="3448080"/>
                <a:ext cx="28800" cy="19080"/>
              </a:xfrm>
              <a:prstGeom prst="rect">
                <a:avLst/>
              </a:prstGeom>
            </p:spPr>
          </p:pic>
        </mc:Fallback>
      </mc:AlternateContent>
    </p:spTree>
    <p:extLst>
      <p:ext uri="{BB962C8B-B14F-4D97-AF65-F5344CB8AC3E}">
        <p14:creationId xmlns:p14="http://schemas.microsoft.com/office/powerpoint/2010/main" val="360479277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449179"/>
            <a:ext cx="8915399" cy="850233"/>
          </a:xfrm>
        </p:spPr>
        <p:txBody>
          <a:bodyPr>
            <a:normAutofit/>
          </a:bodyPr>
          <a:lstStyle/>
          <a:p>
            <a:r>
              <a:rPr lang="es-ES" sz="4000" dirty="0" smtClean="0">
                <a:latin typeface="Arial" panose="020B0604020202020204" pitchFamily="34" charset="0"/>
                <a:cs typeface="Arial" panose="020B0604020202020204" pitchFamily="34" charset="0"/>
              </a:rPr>
              <a:t>Convección</a:t>
            </a:r>
            <a:endParaRPr lang="es-AR" sz="4000" dirty="0">
              <a:latin typeface="Arial" panose="020B0604020202020204" pitchFamily="34" charset="0"/>
              <a:cs typeface="Arial" panose="020B0604020202020204" pitchFamily="34" charset="0"/>
            </a:endParaRPr>
          </a:p>
        </p:txBody>
      </p:sp>
      <p:pic>
        <p:nvPicPr>
          <p:cNvPr id="2050" name="Picture 2" descr="https://upload.wikimedia.org/wikipedia/commons/thumb/0/08/Convection.gif/200px-Convection.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589213" y="1729379"/>
            <a:ext cx="3491824" cy="261886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a:blip r:embed="rId3"/>
          <a:stretch>
            <a:fillRect/>
          </a:stretch>
        </p:blipFill>
        <p:spPr>
          <a:xfrm>
            <a:off x="6212723" y="1729379"/>
            <a:ext cx="3650490" cy="1297952"/>
          </a:xfrm>
          <a:prstGeom prst="rect">
            <a:avLst/>
          </a:prstGeom>
        </p:spPr>
      </p:pic>
      <p:pic>
        <p:nvPicPr>
          <p:cNvPr id="5" name="Imagen 4"/>
          <p:cNvPicPr>
            <a:picLocks noChangeAspect="1"/>
          </p:cNvPicPr>
          <p:nvPr/>
        </p:nvPicPr>
        <p:blipFill>
          <a:blip r:embed="rId4"/>
          <a:stretch>
            <a:fillRect/>
          </a:stretch>
        </p:blipFill>
        <p:spPr>
          <a:xfrm>
            <a:off x="6081037" y="3495518"/>
            <a:ext cx="5837237" cy="1705458"/>
          </a:xfrm>
          <a:prstGeom prst="rect">
            <a:avLst/>
          </a:prstGeom>
        </p:spPr>
      </p:pic>
    </p:spTree>
    <p:extLst>
      <p:ext uri="{BB962C8B-B14F-4D97-AF65-F5344CB8AC3E}">
        <p14:creationId xmlns:p14="http://schemas.microsoft.com/office/powerpoint/2010/main" val="37148230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117559" y="381001"/>
            <a:ext cx="9387054" cy="838200"/>
          </a:xfrm>
        </p:spPr>
        <p:txBody>
          <a:bodyPr>
            <a:normAutofit/>
          </a:bodyPr>
          <a:lstStyle/>
          <a:p>
            <a:r>
              <a:rPr lang="es-ES" sz="4000" dirty="0">
                <a:latin typeface="Arial" panose="020B0604020202020204" pitchFamily="34" charset="0"/>
                <a:cs typeface="Arial" panose="020B0604020202020204" pitchFamily="34" charset="0"/>
              </a:rPr>
              <a:t>Formas de transmisión del calor</a:t>
            </a:r>
            <a:endParaRPr lang="es-AR" sz="4000" dirty="0">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2332538" y="1722390"/>
            <a:ext cx="8915399" cy="3933484"/>
          </a:xfrm>
        </p:spPr>
        <p:txBody>
          <a:bodyPr>
            <a:noAutofit/>
          </a:bodyPr>
          <a:lstStyle/>
          <a:p>
            <a:pPr algn="just"/>
            <a:r>
              <a:rPr lang="es-AR" sz="2000" b="1" dirty="0">
                <a:solidFill>
                  <a:schemeClr val="tx1"/>
                </a:solidFill>
                <a:latin typeface="Arial" panose="020B0604020202020204" pitchFamily="34" charset="0"/>
                <a:cs typeface="Arial" panose="020B0604020202020204" pitchFamily="34" charset="0"/>
              </a:rPr>
              <a:t>Radiación</a:t>
            </a:r>
            <a:r>
              <a:rPr lang="es-AR" sz="2000" dirty="0">
                <a:solidFill>
                  <a:schemeClr val="tx1"/>
                </a:solidFill>
                <a:latin typeface="Arial" panose="020B0604020202020204" pitchFamily="34" charset="0"/>
                <a:cs typeface="Arial" panose="020B0604020202020204" pitchFamily="34" charset="0"/>
              </a:rPr>
              <a:t> </a:t>
            </a:r>
            <a:endParaRPr lang="es-AR" sz="2000" dirty="0" smtClean="0">
              <a:solidFill>
                <a:schemeClr val="tx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sz="2000" dirty="0" smtClean="0">
                <a:solidFill>
                  <a:schemeClr val="tx1"/>
                </a:solidFill>
                <a:latin typeface="Arial" panose="020B0604020202020204" pitchFamily="34" charset="0"/>
                <a:cs typeface="Arial" panose="020B0604020202020204" pitchFamily="34" charset="0"/>
              </a:rPr>
              <a:t>El </a:t>
            </a:r>
            <a:r>
              <a:rPr lang="es-AR" sz="2000" dirty="0">
                <a:solidFill>
                  <a:schemeClr val="tx1"/>
                </a:solidFill>
                <a:latin typeface="Arial" panose="020B0604020202020204" pitchFamily="34" charset="0"/>
                <a:cs typeface="Arial" panose="020B0604020202020204" pitchFamily="34" charset="0"/>
              </a:rPr>
              <a:t>tercer medio de transferencia de energía que se analizará es la radiación térmica. Todos los objetos continuamente radian energía en la forma de ondas </a:t>
            </a:r>
            <a:r>
              <a:rPr lang="es-AR" sz="2000" dirty="0" smtClean="0">
                <a:solidFill>
                  <a:schemeClr val="tx1"/>
                </a:solidFill>
                <a:latin typeface="Arial" panose="020B0604020202020204" pitchFamily="34" charset="0"/>
                <a:cs typeface="Arial" panose="020B0604020202020204" pitchFamily="34" charset="0"/>
              </a:rPr>
              <a:t>electromagnéticas </a:t>
            </a:r>
            <a:r>
              <a:rPr lang="es-AR" sz="2000" dirty="0">
                <a:solidFill>
                  <a:schemeClr val="tx1"/>
                </a:solidFill>
                <a:latin typeface="Arial" panose="020B0604020202020204" pitchFamily="34" charset="0"/>
                <a:cs typeface="Arial" panose="020B0604020202020204" pitchFamily="34" charset="0"/>
              </a:rPr>
              <a:t>producidas por vibraciones térmicas de las </a:t>
            </a:r>
            <a:r>
              <a:rPr lang="es-AR" sz="2000" dirty="0" smtClean="0">
                <a:solidFill>
                  <a:schemeClr val="tx1"/>
                </a:solidFill>
                <a:latin typeface="Arial" panose="020B0604020202020204" pitchFamily="34" charset="0"/>
                <a:cs typeface="Arial" panose="020B0604020202020204" pitchFamily="34" charset="0"/>
              </a:rPr>
              <a:t>moléculas.</a:t>
            </a:r>
          </a:p>
          <a:p>
            <a:pPr marL="342900" indent="-342900" algn="just">
              <a:buFont typeface="Arial" panose="020B0604020202020204" pitchFamily="34" charset="0"/>
              <a:buChar char="•"/>
            </a:pPr>
            <a:r>
              <a:rPr lang="es-AR" sz="2000" dirty="0">
                <a:solidFill>
                  <a:schemeClr val="tx1"/>
                </a:solidFill>
                <a:latin typeface="Arial" panose="020B0604020202020204" pitchFamily="34" charset="0"/>
                <a:cs typeface="Arial" panose="020B0604020202020204" pitchFamily="34" charset="0"/>
              </a:rPr>
              <a:t>La rapidez a la que un objeto radia energía es proporcional a la cuarta potencia de su temperatura absoluta. Este comportamiento, conocido como </a:t>
            </a:r>
            <a:r>
              <a:rPr lang="es-AR" sz="2000" b="1" dirty="0">
                <a:solidFill>
                  <a:schemeClr val="tx1"/>
                </a:solidFill>
                <a:latin typeface="Arial" panose="020B0604020202020204" pitchFamily="34" charset="0"/>
                <a:cs typeface="Arial" panose="020B0604020202020204" pitchFamily="34" charset="0"/>
              </a:rPr>
              <a:t>ley de Stefan</a:t>
            </a:r>
            <a:r>
              <a:rPr lang="es-AR" sz="2000" dirty="0">
                <a:solidFill>
                  <a:schemeClr val="tx1"/>
                </a:solidFill>
                <a:latin typeface="Arial" panose="020B0604020202020204" pitchFamily="34" charset="0"/>
                <a:cs typeface="Arial" panose="020B0604020202020204" pitchFamily="34" charset="0"/>
              </a:rPr>
              <a:t>, se expresa en forma de ecuación </a:t>
            </a:r>
            <a:r>
              <a:rPr lang="es-AR" sz="2000" dirty="0" smtClean="0">
                <a:solidFill>
                  <a:schemeClr val="tx1"/>
                </a:solidFill>
                <a:latin typeface="Arial" panose="020B0604020202020204" pitchFamily="34" charset="0"/>
                <a:cs typeface="Arial" panose="020B0604020202020204" pitchFamily="34" charset="0"/>
              </a:rPr>
              <a:t>como;</a:t>
            </a:r>
            <a:endParaRPr lang="es-AR" sz="2000" dirty="0">
              <a:solidFill>
                <a:schemeClr val="tx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5327733" y="4917248"/>
            <a:ext cx="1943371" cy="590632"/>
          </a:xfrm>
          <a:prstGeom prst="rect">
            <a:avLst/>
          </a:prstGeom>
        </p:spPr>
      </p:pic>
      <p:pic>
        <p:nvPicPr>
          <p:cNvPr id="5" name="Imagen 4"/>
          <p:cNvPicPr>
            <a:picLocks noChangeAspect="1"/>
          </p:cNvPicPr>
          <p:nvPr/>
        </p:nvPicPr>
        <p:blipFill>
          <a:blip r:embed="rId3"/>
          <a:stretch>
            <a:fillRect/>
          </a:stretch>
        </p:blipFill>
        <p:spPr>
          <a:xfrm>
            <a:off x="5327733" y="5688225"/>
            <a:ext cx="4295775" cy="485775"/>
          </a:xfrm>
          <a:prstGeom prst="rect">
            <a:avLst/>
          </a:prstGeom>
        </p:spPr>
      </p:pic>
    </p:spTree>
    <p:extLst>
      <p:ext uri="{BB962C8B-B14F-4D97-AF65-F5344CB8AC3E}">
        <p14:creationId xmlns:p14="http://schemas.microsoft.com/office/powerpoint/2010/main" val="368011922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246313" y="362542"/>
            <a:ext cx="8915399" cy="766171"/>
          </a:xfrm>
        </p:spPr>
        <p:txBody>
          <a:bodyPr>
            <a:normAutofit/>
          </a:bodyPr>
          <a:lstStyle/>
          <a:p>
            <a:r>
              <a:rPr lang="es-ES" sz="4000" dirty="0" smtClean="0">
                <a:solidFill>
                  <a:schemeClr val="tx1"/>
                </a:solidFill>
              </a:rPr>
              <a:t>Ejercitación - Problemas</a:t>
            </a:r>
            <a:endParaRPr lang="es-AR" sz="4000" dirty="0">
              <a:solidFill>
                <a:schemeClr val="tx1"/>
              </a:solidFill>
            </a:endParaRPr>
          </a:p>
        </p:txBody>
      </p:sp>
    </p:spTree>
    <p:extLst>
      <p:ext uri="{BB962C8B-B14F-4D97-AF65-F5344CB8AC3E}">
        <p14:creationId xmlns:p14="http://schemas.microsoft.com/office/powerpoint/2010/main" val="95951938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971303" y="303748"/>
            <a:ext cx="8874421" cy="6554252"/>
          </a:xfrm>
          <a:prstGeom prst="rect">
            <a:avLst/>
          </a:prstGeom>
        </p:spPr>
      </p:pic>
    </p:spTree>
    <p:extLst>
      <p:ext uri="{BB962C8B-B14F-4D97-AF65-F5344CB8AC3E}">
        <p14:creationId xmlns:p14="http://schemas.microsoft.com/office/powerpoint/2010/main" val="159250395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p:txBody>
          <a:bodyPr/>
          <a:lstStyle/>
          <a:p>
            <a:r>
              <a:rPr lang="es-AR" dirty="0" smtClean="0"/>
              <a:t>Fin…</a:t>
            </a:r>
            <a:endParaRPr lang="es-AR" dirty="0"/>
          </a:p>
        </p:txBody>
      </p:sp>
    </p:spTree>
    <p:extLst>
      <p:ext uri="{BB962C8B-B14F-4D97-AF65-F5344CB8AC3E}">
        <p14:creationId xmlns:p14="http://schemas.microsoft.com/office/powerpoint/2010/main" val="267973365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4643</TotalTime>
  <Words>1465</Words>
  <Application>Microsoft Office PowerPoint</Application>
  <PresentationFormat>Panorámica</PresentationFormat>
  <Paragraphs>138</Paragraphs>
  <Slides>38</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38</vt:i4>
      </vt:variant>
    </vt:vector>
  </HeadingPairs>
  <TitlesOfParts>
    <vt:vector size="46" baseType="lpstr">
      <vt:lpstr>Arial</vt:lpstr>
      <vt:lpstr>Calisto MT</vt:lpstr>
      <vt:lpstr>Cambria Math</vt:lpstr>
      <vt:lpstr>Century Gothic</vt:lpstr>
      <vt:lpstr>Times New Roman</vt:lpstr>
      <vt:lpstr>Wingdings</vt:lpstr>
      <vt:lpstr>Wingdings 3</vt:lpstr>
      <vt:lpstr>Espiral</vt:lpstr>
      <vt:lpstr>11- Termodinámica (560)</vt:lpstr>
      <vt:lpstr>Introducción</vt:lpstr>
      <vt:lpstr>Temperatura y ley cero  de la termodinámica </vt:lpstr>
      <vt:lpstr>Definición de temperatura</vt:lpstr>
      <vt:lpstr>Medida de la temperatura</vt:lpstr>
      <vt:lpstr>Medida de la temperatura - Termómetros</vt:lpstr>
      <vt:lpstr>Medida de la temperatura - Termómetros</vt:lpstr>
      <vt:lpstr>Las escalas de temperatura Celsius, Fahrenheit y Kelvin</vt:lpstr>
      <vt:lpstr>Las escalas de temperatura Celsius, Fahrenheit y Kelvin</vt:lpstr>
      <vt:lpstr>Escalas termométricas</vt:lpstr>
      <vt:lpstr>Dilatación térmica de sólidos y líquidos </vt:lpstr>
      <vt:lpstr>Dilatación térmica de sólidos y líquidos </vt:lpstr>
      <vt:lpstr>Dilatación Térmica</vt:lpstr>
      <vt:lpstr>Dilatación Térmica</vt:lpstr>
      <vt:lpstr>Calor – Calorimetría (554)</vt:lpstr>
      <vt:lpstr>El equivalente mecánico del calor </vt:lpstr>
      <vt:lpstr>Calor específico y calorimetría </vt:lpstr>
      <vt:lpstr>Calores específicos</vt:lpstr>
      <vt:lpstr>Calorimetría</vt:lpstr>
      <vt:lpstr>Calorimetría</vt:lpstr>
      <vt:lpstr>Calor latente </vt:lpstr>
      <vt:lpstr>Calor latente </vt:lpstr>
      <vt:lpstr>Presentación de PowerPoint</vt:lpstr>
      <vt:lpstr>Calorimetría</vt:lpstr>
      <vt:lpstr>Presentación de PowerPoint</vt:lpstr>
      <vt:lpstr>Calores específicos</vt:lpstr>
      <vt:lpstr>Formas de transmisión del calor (600)</vt:lpstr>
      <vt:lpstr>Conducción térmica </vt:lpstr>
      <vt:lpstr>Presentación de PowerPoint</vt:lpstr>
      <vt:lpstr>Presentación de PowerPoint</vt:lpstr>
      <vt:lpstr>Formas de transmisión del calor</vt:lpstr>
      <vt:lpstr>Formas de transmisión del calor</vt:lpstr>
      <vt:lpstr>Formas de transmisión del calor</vt:lpstr>
      <vt:lpstr>Convección</vt:lpstr>
      <vt:lpstr>Formas de transmisión del calor</vt:lpstr>
      <vt:lpstr>Presentación de PowerPoint</vt:lpstr>
      <vt:lpstr>Presentación de PowerPoint</vt:lpstr>
      <vt:lpstr>Presentación de PowerPoint</vt:lpstr>
    </vt:vector>
  </TitlesOfParts>
  <Company>EXO S.A.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Termodinámica</dc:title>
  <dc:creator>Dario Echazarreta</dc:creator>
  <cp:lastModifiedBy>Rodo</cp:lastModifiedBy>
  <cp:revision>106</cp:revision>
  <dcterms:created xsi:type="dcterms:W3CDTF">2020-05-25T19:29:51Z</dcterms:created>
  <dcterms:modified xsi:type="dcterms:W3CDTF">2022-10-26T20:02:48Z</dcterms:modified>
</cp:coreProperties>
</file>